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1"/>
  </p:sldMasterIdLst>
  <p:notesMasterIdLst>
    <p:notesMasterId r:id="rId13"/>
  </p:notesMasterIdLst>
  <p:sldIdLst>
    <p:sldId id="257" r:id="rId2"/>
    <p:sldId id="256" r:id="rId3"/>
    <p:sldId id="259" r:id="rId4"/>
    <p:sldId id="261" r:id="rId5"/>
    <p:sldId id="262" r:id="rId6"/>
    <p:sldId id="470" r:id="rId7"/>
    <p:sldId id="471" r:id="rId8"/>
    <p:sldId id="472" r:id="rId9"/>
    <p:sldId id="473" r:id="rId10"/>
    <p:sldId id="474" r:id="rId11"/>
    <p:sldId id="47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07"/>
    <p:restoredTop sz="94674"/>
  </p:normalViewPr>
  <p:slideViewPr>
    <p:cSldViewPr snapToGrid="0">
      <p:cViewPr varScale="1">
        <p:scale>
          <a:sx n="148" d="100"/>
          <a:sy n="148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9905B-F1E6-FC47-A6DB-0A76E84EE91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6D025-F899-A343-B6DA-B9DFBA8B8A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3426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0C370-031F-7F42-9269-CEF8EADC601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3478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0C370-031F-7F42-9269-CEF8EADC601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9076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EADC9-781F-E681-8FDD-20F3A6FF7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F30515B-AC22-BCC5-5409-27D5AB2E8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8D026CA-5E16-4676-72D7-1DEE9BA5A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E1EF37-497D-946B-1A8B-79EC42670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0C370-031F-7F42-9269-CEF8EADC601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3453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CABD0-C2F7-3B6D-8014-2032573EB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A1DB325-B305-1254-5D75-9464F719C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9FF8B59-4525-BCF7-ED57-4F6E22158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0B30CB0-1B06-E842-B39B-E2623CAA3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0C370-031F-7F42-9269-CEF8EADC601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3688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5B90-5345-0A75-B27C-863214C93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D2A8CD5-4B0C-FEAF-100B-E5FD76939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BB282AF-0873-AF05-5E10-3CD944C51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4A7FB9-7A27-EC9B-883B-C1BAB230A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0C370-031F-7F42-9269-CEF8EADC601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0818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CC96A-083A-014A-EF18-8236CE3B6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AA6FF8D-4D06-35EF-1353-929D280B2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9874181-1871-26E1-6A7A-3EC171F67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A716D2-804B-5E0C-B307-531435818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0C370-031F-7F42-9269-CEF8EADC601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2955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BB46-9342-444D-A748-7FDFB56ED1B2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AC21A-D0E3-4545-8785-0CC4CDF14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03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BB46-9342-444D-A748-7FDFB56ED1B2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AC21A-D0E3-4545-8785-0CC4CDF14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0667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BB46-9342-444D-A748-7FDFB56ED1B2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AC21A-D0E3-4545-8785-0CC4CDF14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3855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BB46-9342-444D-A748-7FDFB56ED1B2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AC21A-D0E3-4545-8785-0CC4CDF14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3816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BB46-9342-444D-A748-7FDFB56ED1B2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AC21A-D0E3-4545-8785-0CC4CDF14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4292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BB46-9342-444D-A748-7FDFB56ED1B2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AC21A-D0E3-4545-8785-0CC4CDF14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021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BB46-9342-444D-A748-7FDFB56ED1B2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AC21A-D0E3-4545-8785-0CC4CDF14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1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BB46-9342-444D-A748-7FDFB56ED1B2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AC21A-D0E3-4545-8785-0CC4CDF14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698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BB46-9342-444D-A748-7FDFB56ED1B2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AC21A-D0E3-4545-8785-0CC4CDF14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2335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BB46-9342-444D-A748-7FDFB56ED1B2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AC21A-D0E3-4545-8785-0CC4CDF14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858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BB46-9342-444D-A748-7FDFB56ED1B2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AC21A-D0E3-4545-8785-0CC4CDF14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7830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FBB46-9342-444D-A748-7FDFB56ED1B2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AC21A-D0E3-4545-8785-0CC4CDF14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1507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va.com/ja_jp/illustrations/s/cloud-icon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con-pit.com/pictogram/27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awpixel.com/search/des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6CEE8CB-483F-7DD4-EA4D-1E04570831BA}"/>
              </a:ext>
            </a:extLst>
          </p:cNvPr>
          <p:cNvSpPr txBox="1"/>
          <p:nvPr/>
        </p:nvSpPr>
        <p:spPr>
          <a:xfrm>
            <a:off x="314036" y="452582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>
                <a:latin typeface="Meiryo UI" panose="020B0604030504040204" pitchFamily="34" charset="-128"/>
                <a:ea typeface="Meiryo UI" panose="020B0604030504040204" pitchFamily="34" charset="-128"/>
              </a:rPr>
              <a:t>株式会社</a:t>
            </a:r>
            <a:r>
              <a:rPr kumimoji="1" lang="en-US" altLang="ja-JP" u="sng" dirty="0">
                <a:latin typeface="Meiryo UI" panose="020B0604030504040204" pitchFamily="34" charset="-128"/>
                <a:ea typeface="Meiryo UI" panose="020B0604030504040204" pitchFamily="34" charset="-128"/>
              </a:rPr>
              <a:t>MOLA</a:t>
            </a:r>
            <a:r>
              <a:rPr lang="ja-JP" altLang="en-US" u="sng">
                <a:latin typeface="Meiryo UI" panose="020B0604030504040204" pitchFamily="34" charset="-128"/>
                <a:ea typeface="Meiryo UI" panose="020B0604030504040204" pitchFamily="34" charset="-128"/>
              </a:rPr>
              <a:t>　御中</a:t>
            </a:r>
            <a:endParaRPr kumimoji="1" lang="en-US" altLang="ja-JP" u="sng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BC2D5E7-BF16-A862-31C9-B84F9E04045A}"/>
              </a:ext>
            </a:extLst>
          </p:cNvPr>
          <p:cNvSpPr txBox="1"/>
          <p:nvPr/>
        </p:nvSpPr>
        <p:spPr>
          <a:xfrm>
            <a:off x="2430990" y="2967335"/>
            <a:ext cx="7330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岡山国際サーキット様向け</a:t>
            </a:r>
            <a:r>
              <a:rPr kumimoji="1" lang="en-US" altLang="ja-JP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 Live Timing</a:t>
            </a:r>
            <a:r>
              <a:rPr kumimoji="1"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サービスのご提案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D219D88-59D1-5C70-4F22-0F909B863254}"/>
              </a:ext>
            </a:extLst>
          </p:cNvPr>
          <p:cNvSpPr txBox="1"/>
          <p:nvPr/>
        </p:nvSpPr>
        <p:spPr>
          <a:xfrm>
            <a:off x="10157469" y="6294704"/>
            <a:ext cx="2034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合同会社ヒューミッド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F975B5F-2B38-EF40-3CC9-6478C562500E}"/>
              </a:ext>
            </a:extLst>
          </p:cNvPr>
          <p:cNvSpPr txBox="1"/>
          <p:nvPr/>
        </p:nvSpPr>
        <p:spPr>
          <a:xfrm>
            <a:off x="10705696" y="5814414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2026.04.15</a:t>
            </a:r>
            <a:endParaRPr kumimoji="1"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2C084BD-FDFC-4AC2-3B7A-4156F2A4EED1}"/>
              </a:ext>
            </a:extLst>
          </p:cNvPr>
          <p:cNvSpPr/>
          <p:nvPr/>
        </p:nvSpPr>
        <p:spPr>
          <a:xfrm>
            <a:off x="0" y="0"/>
            <a:ext cx="12192000" cy="19396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C7440D6-5B76-4B43-3200-01A2AE012F68}"/>
              </a:ext>
            </a:extLst>
          </p:cNvPr>
          <p:cNvSpPr/>
          <p:nvPr/>
        </p:nvSpPr>
        <p:spPr>
          <a:xfrm>
            <a:off x="0" y="6664036"/>
            <a:ext cx="12192000" cy="19396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9805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381C4C9-21FC-A5D9-E61F-352F7841E578}"/>
              </a:ext>
            </a:extLst>
          </p:cNvPr>
          <p:cNvCxnSpPr>
            <a:cxnSpLocks/>
          </p:cNvCxnSpPr>
          <p:nvPr/>
        </p:nvCxnSpPr>
        <p:spPr>
          <a:xfrm>
            <a:off x="0" y="669851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FDB8673-724C-0E3D-B32C-F816AD363090}"/>
              </a:ext>
            </a:extLst>
          </p:cNvPr>
          <p:cNvSpPr txBox="1"/>
          <p:nvPr/>
        </p:nvSpPr>
        <p:spPr>
          <a:xfrm>
            <a:off x="0" y="10972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目次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A5C43ED-9E96-F420-B3AF-49D08E4D6C79}"/>
              </a:ext>
            </a:extLst>
          </p:cNvPr>
          <p:cNvSpPr txBox="1"/>
          <p:nvPr/>
        </p:nvSpPr>
        <p:spPr>
          <a:xfrm>
            <a:off x="621102" y="931653"/>
            <a:ext cx="390042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データフロー</a:t>
            </a:r>
            <a:endParaRPr kumimoji="1"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サービス利用について</a:t>
            </a:r>
            <a:endParaRPr kumimoji="1"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ドメインおよびクラウドサーバーについて</a:t>
            </a:r>
            <a:endParaRPr kumimoji="1"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概算見積もり</a:t>
            </a:r>
            <a:endParaRPr kumimoji="1"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6928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BA356-3B36-C7C8-0574-096E29259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角丸四角形 83">
            <a:extLst>
              <a:ext uri="{FF2B5EF4-FFF2-40B4-BE49-F238E27FC236}">
                <a16:creationId xmlns:a16="http://schemas.microsoft.com/office/drawing/2014/main" id="{2F63EE9F-DE52-1174-652A-F72F8C43FC7D}"/>
              </a:ext>
            </a:extLst>
          </p:cNvPr>
          <p:cNvSpPr/>
          <p:nvPr/>
        </p:nvSpPr>
        <p:spPr>
          <a:xfrm>
            <a:off x="9538519" y="679087"/>
            <a:ext cx="2653481" cy="6188149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角丸四角形 41">
            <a:extLst>
              <a:ext uri="{FF2B5EF4-FFF2-40B4-BE49-F238E27FC236}">
                <a16:creationId xmlns:a16="http://schemas.microsoft.com/office/drawing/2014/main" id="{7EBE619F-B2CF-24C9-7EA6-3AA6083257C1}"/>
              </a:ext>
            </a:extLst>
          </p:cNvPr>
          <p:cNvSpPr/>
          <p:nvPr/>
        </p:nvSpPr>
        <p:spPr>
          <a:xfrm>
            <a:off x="0" y="669851"/>
            <a:ext cx="6289964" cy="6188143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  <a:alpha val="5068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5576B35-EB4C-FE91-118D-00F6FC7DD182}"/>
              </a:ext>
            </a:extLst>
          </p:cNvPr>
          <p:cNvCxnSpPr>
            <a:cxnSpLocks/>
          </p:cNvCxnSpPr>
          <p:nvPr/>
        </p:nvCxnSpPr>
        <p:spPr>
          <a:xfrm>
            <a:off x="0" y="669851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BA92A39-89C5-C6C8-CBE0-FE08C10373A8}"/>
              </a:ext>
            </a:extLst>
          </p:cNvPr>
          <p:cNvSpPr txBox="1"/>
          <p:nvPr/>
        </p:nvSpPr>
        <p:spPr>
          <a:xfrm>
            <a:off x="0" y="109728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データフロー概要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30341668-4A96-75C6-0C2A-165506FDA4B9}"/>
              </a:ext>
            </a:extLst>
          </p:cNvPr>
          <p:cNvCxnSpPr>
            <a:cxnSpLocks/>
          </p:cNvCxnSpPr>
          <p:nvPr/>
        </p:nvCxnSpPr>
        <p:spPr>
          <a:xfrm>
            <a:off x="2367940" y="3429000"/>
            <a:ext cx="2157878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角丸四角形 21">
            <a:extLst>
              <a:ext uri="{FF2B5EF4-FFF2-40B4-BE49-F238E27FC236}">
                <a16:creationId xmlns:a16="http://schemas.microsoft.com/office/drawing/2014/main" id="{CEC98FCF-B67B-4CDA-508D-7DAA998FC34C}"/>
              </a:ext>
            </a:extLst>
          </p:cNvPr>
          <p:cNvSpPr/>
          <p:nvPr/>
        </p:nvSpPr>
        <p:spPr>
          <a:xfrm>
            <a:off x="2650836" y="3154181"/>
            <a:ext cx="1422400" cy="5258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SMIS</a:t>
            </a:r>
          </a:p>
          <a:p>
            <a:pPr algn="ctr"/>
            <a:r>
              <a:rPr kumimoji="1"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フォーマット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80375A5-2F27-8997-61B3-CE123442C514}"/>
              </a:ext>
            </a:extLst>
          </p:cNvPr>
          <p:cNvSpPr txBox="1"/>
          <p:nvPr/>
        </p:nvSpPr>
        <p:spPr>
          <a:xfrm>
            <a:off x="4525818" y="3802600"/>
            <a:ext cx="1406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err="1">
                <a:latin typeface="Meiryo" panose="020B0604030504040204" pitchFamily="34" charset="-128"/>
                <a:ea typeface="Meiryo" panose="020B0604030504040204" pitchFamily="34" charset="-128"/>
              </a:rPr>
              <a:t>LiveTiming</a:t>
            </a:r>
            <a:r>
              <a:rPr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用</a:t>
            </a:r>
            <a:endParaRPr kumimoji="1" lang="ja-JP" alt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30" name="図 29" descr="クラウドアイコン - 豊富なフリー素材はCanva(キャンバ)">
            <a:extLst>
              <a:ext uri="{FF2B5EF4-FFF2-40B4-BE49-F238E27FC236}">
                <a16:creationId xmlns:a16="http://schemas.microsoft.com/office/drawing/2014/main" id="{4A9BD336-1F26-1567-DD58-B8FDBB322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194403" y="2852794"/>
            <a:ext cx="1417955" cy="1152411"/>
          </a:xfrm>
          <a:prstGeom prst="rect">
            <a:avLst/>
          </a:prstGeom>
        </p:spPr>
      </p:pic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7A33D7C0-0513-ACAE-EE35-50E1DEEB242F}"/>
              </a:ext>
            </a:extLst>
          </p:cNvPr>
          <p:cNvCxnSpPr>
            <a:cxnSpLocks/>
          </p:cNvCxnSpPr>
          <p:nvPr/>
        </p:nvCxnSpPr>
        <p:spPr>
          <a:xfrm>
            <a:off x="5932358" y="3437911"/>
            <a:ext cx="97100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F787585-AFDA-790E-D69F-D244CAE5B7F9}"/>
              </a:ext>
            </a:extLst>
          </p:cNvPr>
          <p:cNvSpPr txBox="1"/>
          <p:nvPr/>
        </p:nvSpPr>
        <p:spPr>
          <a:xfrm>
            <a:off x="7194403" y="2522058"/>
            <a:ext cx="1670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クラウドサーバー</a:t>
            </a:r>
            <a:endParaRPr kumimoji="1" lang="ja-JP" alt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6437C546-B97F-082A-5275-03F12848B777}"/>
              </a:ext>
            </a:extLst>
          </p:cNvPr>
          <p:cNvCxnSpPr>
            <a:cxnSpLocks/>
            <a:stCxn id="57" idx="1"/>
          </p:cNvCxnSpPr>
          <p:nvPr/>
        </p:nvCxnSpPr>
        <p:spPr>
          <a:xfrm flipH="1" flipV="1">
            <a:off x="8612358" y="3565236"/>
            <a:ext cx="1764364" cy="1249637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E5BD54FC-D0DF-68F7-E200-5E9322C131CA}"/>
              </a:ext>
            </a:extLst>
          </p:cNvPr>
          <p:cNvCxnSpPr>
            <a:cxnSpLocks/>
          </p:cNvCxnSpPr>
          <p:nvPr/>
        </p:nvCxnSpPr>
        <p:spPr>
          <a:xfrm flipH="1">
            <a:off x="8636011" y="2403932"/>
            <a:ext cx="1950237" cy="975285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グラフィックス 54" descr="モニター">
            <a:extLst>
              <a:ext uri="{FF2B5EF4-FFF2-40B4-BE49-F238E27FC236}">
                <a16:creationId xmlns:a16="http://schemas.microsoft.com/office/drawing/2014/main" id="{69FFAAB2-FE76-9D64-1953-ACFDA1E869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86248" y="1936597"/>
            <a:ext cx="934670" cy="934670"/>
          </a:xfrm>
          <a:prstGeom prst="rect">
            <a:avLst/>
          </a:prstGeom>
        </p:spPr>
      </p:pic>
      <p:pic>
        <p:nvPicPr>
          <p:cNvPr id="57" name="図 56" descr="スマホのアイコン | フリーのアイコンイラスト素材 icon-pit">
            <a:extLst>
              <a:ext uri="{FF2B5EF4-FFF2-40B4-BE49-F238E27FC236}">
                <a16:creationId xmlns:a16="http://schemas.microsoft.com/office/drawing/2014/main" id="{43723032-60B0-2D49-A42B-0DC52D0B8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376722" y="4138012"/>
            <a:ext cx="1353722" cy="1353722"/>
          </a:xfrm>
          <a:prstGeom prst="rect">
            <a:avLst/>
          </a:prstGeom>
        </p:spPr>
      </p:pic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1FF3D841-D1E0-FF98-6855-845453BD05BA}"/>
              </a:ext>
            </a:extLst>
          </p:cNvPr>
          <p:cNvGrpSpPr/>
          <p:nvPr/>
        </p:nvGrpSpPr>
        <p:grpSpPr>
          <a:xfrm>
            <a:off x="917830" y="3052008"/>
            <a:ext cx="1406540" cy="1086004"/>
            <a:chOff x="4084164" y="1944135"/>
            <a:chExt cx="2083444" cy="1504514"/>
          </a:xfrm>
        </p:grpSpPr>
        <p:pic>
          <p:nvPicPr>
            <p:cNvPr id="65" name="図 64">
              <a:extLst>
                <a:ext uri="{FF2B5EF4-FFF2-40B4-BE49-F238E27FC236}">
                  <a16:creationId xmlns:a16="http://schemas.microsoft.com/office/drawing/2014/main" id="{3D097F55-F595-8E8B-CB0F-7068D2A9C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4174" y="1944135"/>
              <a:ext cx="1089349" cy="915684"/>
            </a:xfrm>
            <a:prstGeom prst="rect">
              <a:avLst/>
            </a:prstGeom>
          </p:spPr>
        </p:pic>
        <p:sp>
          <p:nvSpPr>
            <p:cNvPr id="66" name="テキスト ボックス 65">
              <a:extLst>
                <a:ext uri="{FF2B5EF4-FFF2-40B4-BE49-F238E27FC236}">
                  <a16:creationId xmlns:a16="http://schemas.microsoft.com/office/drawing/2014/main" id="{38F8E59F-10B2-0B0E-DF58-D69162B7C8C7}"/>
                </a:ext>
              </a:extLst>
            </p:cNvPr>
            <p:cNvSpPr txBox="1"/>
            <p:nvPr/>
          </p:nvSpPr>
          <p:spPr>
            <a:xfrm>
              <a:off x="4084164" y="3022265"/>
              <a:ext cx="2083444" cy="426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Meiryo" panose="020B0604030504040204" pitchFamily="34" charset="-128"/>
                  <a:ea typeface="Meiryo" panose="020B0604030504040204" pitchFamily="34" charset="-128"/>
                </a:rPr>
                <a:t>MOLA</a:t>
              </a:r>
              <a:r>
                <a:rPr lang="ja-JP" altLang="en-US" sz="1400">
                  <a:latin typeface="Meiryo" panose="020B0604030504040204" pitchFamily="34" charset="-128"/>
                  <a:ea typeface="Meiryo" panose="020B0604030504040204" pitchFamily="34" charset="-128"/>
                </a:rPr>
                <a:t>システム</a:t>
              </a:r>
              <a:endParaRPr kumimoji="1" lang="ja-JP" altLang="en-US" sz="1400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67" name="Group 180">
            <a:extLst>
              <a:ext uri="{FF2B5EF4-FFF2-40B4-BE49-F238E27FC236}">
                <a16:creationId xmlns:a16="http://schemas.microsoft.com/office/drawing/2014/main" id="{8D501D94-018D-DE5D-BB98-2C580DBA4EE2}"/>
              </a:ext>
            </a:extLst>
          </p:cNvPr>
          <p:cNvGrpSpPr>
            <a:grpSpLocks/>
          </p:cNvGrpSpPr>
          <p:nvPr/>
        </p:nvGrpSpPr>
        <p:grpSpPr bwMode="auto">
          <a:xfrm>
            <a:off x="4722097" y="3043512"/>
            <a:ext cx="792747" cy="730940"/>
            <a:chOff x="1827" y="3453"/>
            <a:chExt cx="885" cy="816"/>
          </a:xfrm>
        </p:grpSpPr>
        <p:sp>
          <p:nvSpPr>
            <p:cNvPr id="68" name="Rectangle 181">
              <a:extLst>
                <a:ext uri="{FF2B5EF4-FFF2-40B4-BE49-F238E27FC236}">
                  <a16:creationId xmlns:a16="http://schemas.microsoft.com/office/drawing/2014/main" id="{9A652DBD-D929-B341-7E6A-65EE60260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2" y="3476"/>
              <a:ext cx="658" cy="544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 sz="135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Rectangle 182">
              <a:extLst>
                <a:ext uri="{FF2B5EF4-FFF2-40B4-BE49-F238E27FC236}">
                  <a16:creationId xmlns:a16="http://schemas.microsoft.com/office/drawing/2014/main" id="{C96FF21D-EA7F-8C93-6FCD-861A8F0EE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4" y="3498"/>
              <a:ext cx="612" cy="454"/>
            </a:xfrm>
            <a:prstGeom prst="rect">
              <a:avLst/>
            </a:prstGeom>
            <a:gradFill rotWithShape="1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100000">
                  <a:srgbClr val="99CCFF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 sz="135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Freeform 183">
              <a:extLst>
                <a:ext uri="{FF2B5EF4-FFF2-40B4-BE49-F238E27FC236}">
                  <a16:creationId xmlns:a16="http://schemas.microsoft.com/office/drawing/2014/main" id="{82DF393A-B434-205F-BA79-8DD0A2D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" y="3453"/>
              <a:ext cx="23" cy="567"/>
            </a:xfrm>
            <a:custGeom>
              <a:avLst/>
              <a:gdLst>
                <a:gd name="T0" fmla="*/ 0 w 23"/>
                <a:gd name="T1" fmla="*/ 567 h 567"/>
                <a:gd name="T2" fmla="*/ 0 w 23"/>
                <a:gd name="T3" fmla="*/ 22 h 567"/>
                <a:gd name="T4" fmla="*/ 23 w 23"/>
                <a:gd name="T5" fmla="*/ 0 h 567"/>
                <a:gd name="T6" fmla="*/ 23 w 23"/>
                <a:gd name="T7" fmla="*/ 544 h 567"/>
                <a:gd name="T8" fmla="*/ 0 w 23"/>
                <a:gd name="T9" fmla="*/ 567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567">
                  <a:moveTo>
                    <a:pt x="0" y="567"/>
                  </a:moveTo>
                  <a:lnTo>
                    <a:pt x="0" y="22"/>
                  </a:lnTo>
                  <a:lnTo>
                    <a:pt x="23" y="0"/>
                  </a:lnTo>
                  <a:lnTo>
                    <a:pt x="23" y="544"/>
                  </a:lnTo>
                  <a:lnTo>
                    <a:pt x="0" y="567"/>
                  </a:lnTo>
                  <a:close/>
                </a:path>
              </a:pathLst>
            </a:custGeom>
            <a:gradFill rotWithShape="1">
              <a:gsLst>
                <a:gs pos="0">
                  <a:srgbClr val="333333"/>
                </a:gs>
                <a:gs pos="100000">
                  <a:srgbClr val="333333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sz="135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Freeform 184">
              <a:extLst>
                <a:ext uri="{FF2B5EF4-FFF2-40B4-BE49-F238E27FC236}">
                  <a16:creationId xmlns:a16="http://schemas.microsoft.com/office/drawing/2014/main" id="{D4EDA01F-B55B-599F-AAE2-545C1A59C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1" y="3453"/>
              <a:ext cx="681" cy="22"/>
            </a:xfrm>
            <a:custGeom>
              <a:avLst/>
              <a:gdLst>
                <a:gd name="T0" fmla="*/ 681 w 681"/>
                <a:gd name="T1" fmla="*/ 0 h 22"/>
                <a:gd name="T2" fmla="*/ 23 w 681"/>
                <a:gd name="T3" fmla="*/ 0 h 22"/>
                <a:gd name="T4" fmla="*/ 0 w 681"/>
                <a:gd name="T5" fmla="*/ 22 h 22"/>
                <a:gd name="T6" fmla="*/ 658 w 681"/>
                <a:gd name="T7" fmla="*/ 22 h 22"/>
                <a:gd name="T8" fmla="*/ 681 w 68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1" h="22">
                  <a:moveTo>
                    <a:pt x="681" y="0"/>
                  </a:moveTo>
                  <a:lnTo>
                    <a:pt x="23" y="0"/>
                  </a:lnTo>
                  <a:lnTo>
                    <a:pt x="0" y="22"/>
                  </a:lnTo>
                  <a:lnTo>
                    <a:pt x="658" y="22"/>
                  </a:lnTo>
                  <a:lnTo>
                    <a:pt x="681" y="0"/>
                  </a:lnTo>
                  <a:close/>
                </a:path>
              </a:pathLst>
            </a:custGeom>
            <a:gradFill rotWithShape="1">
              <a:gsLst>
                <a:gs pos="0">
                  <a:srgbClr val="333333">
                    <a:gamma/>
                    <a:shade val="46275"/>
                    <a:invGamma/>
                  </a:srgbClr>
                </a:gs>
                <a:gs pos="100000">
                  <a:srgbClr val="333333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sz="135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2" name="Freeform 185">
              <a:extLst>
                <a:ext uri="{FF2B5EF4-FFF2-40B4-BE49-F238E27FC236}">
                  <a16:creationId xmlns:a16="http://schemas.microsoft.com/office/drawing/2014/main" id="{7F3925F6-CC15-9837-72DB-CE3247E5C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" y="4020"/>
              <a:ext cx="862" cy="204"/>
            </a:xfrm>
            <a:custGeom>
              <a:avLst/>
              <a:gdLst>
                <a:gd name="T0" fmla="*/ 204 w 862"/>
                <a:gd name="T1" fmla="*/ 0 h 204"/>
                <a:gd name="T2" fmla="*/ 0 w 862"/>
                <a:gd name="T3" fmla="*/ 204 h 204"/>
                <a:gd name="T4" fmla="*/ 658 w 862"/>
                <a:gd name="T5" fmla="*/ 204 h 204"/>
                <a:gd name="T6" fmla="*/ 862 w 862"/>
                <a:gd name="T7" fmla="*/ 0 h 204"/>
                <a:gd name="T8" fmla="*/ 204 w 862"/>
                <a:gd name="T9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2" h="204">
                  <a:moveTo>
                    <a:pt x="204" y="0"/>
                  </a:moveTo>
                  <a:lnTo>
                    <a:pt x="0" y="204"/>
                  </a:lnTo>
                  <a:lnTo>
                    <a:pt x="658" y="204"/>
                  </a:lnTo>
                  <a:lnTo>
                    <a:pt x="862" y="0"/>
                  </a:lnTo>
                  <a:lnTo>
                    <a:pt x="204" y="0"/>
                  </a:lnTo>
                  <a:close/>
                </a:path>
              </a:pathLst>
            </a:custGeom>
            <a:gradFill rotWithShape="1">
              <a:gsLst>
                <a:gs pos="0">
                  <a:srgbClr val="333333">
                    <a:gamma/>
                    <a:shade val="46275"/>
                    <a:invGamma/>
                  </a:srgbClr>
                </a:gs>
                <a:gs pos="100000">
                  <a:srgbClr val="333333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sz="135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3" name="Rectangle 186">
              <a:extLst>
                <a:ext uri="{FF2B5EF4-FFF2-40B4-BE49-F238E27FC236}">
                  <a16:creationId xmlns:a16="http://schemas.microsoft.com/office/drawing/2014/main" id="{2E4444B8-92DD-8A8D-F138-822996806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7" y="4224"/>
              <a:ext cx="658" cy="45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 sz="135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Freeform 187">
              <a:extLst>
                <a:ext uri="{FF2B5EF4-FFF2-40B4-BE49-F238E27FC236}">
                  <a16:creationId xmlns:a16="http://schemas.microsoft.com/office/drawing/2014/main" id="{D32CC594-6CE2-2505-4ADE-6DAAB02299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5" y="4020"/>
              <a:ext cx="204" cy="249"/>
            </a:xfrm>
            <a:custGeom>
              <a:avLst/>
              <a:gdLst>
                <a:gd name="T0" fmla="*/ 204 w 204"/>
                <a:gd name="T1" fmla="*/ 0 h 249"/>
                <a:gd name="T2" fmla="*/ 204 w 204"/>
                <a:gd name="T3" fmla="*/ 45 h 249"/>
                <a:gd name="T4" fmla="*/ 0 w 204"/>
                <a:gd name="T5" fmla="*/ 249 h 249"/>
                <a:gd name="T6" fmla="*/ 0 w 204"/>
                <a:gd name="T7" fmla="*/ 204 h 249"/>
                <a:gd name="T8" fmla="*/ 204 w 204"/>
                <a:gd name="T9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" h="249">
                  <a:moveTo>
                    <a:pt x="204" y="0"/>
                  </a:moveTo>
                  <a:lnTo>
                    <a:pt x="204" y="45"/>
                  </a:lnTo>
                  <a:lnTo>
                    <a:pt x="0" y="249"/>
                  </a:lnTo>
                  <a:lnTo>
                    <a:pt x="0" y="204"/>
                  </a:lnTo>
                  <a:lnTo>
                    <a:pt x="204" y="0"/>
                  </a:lnTo>
                  <a:close/>
                </a:path>
              </a:pathLst>
            </a:custGeom>
            <a:gradFill rotWithShape="1">
              <a:gsLst>
                <a:gs pos="0">
                  <a:srgbClr val="333333"/>
                </a:gs>
                <a:gs pos="100000">
                  <a:srgbClr val="333333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sz="135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Rectangle 188">
              <a:extLst>
                <a:ext uri="{FF2B5EF4-FFF2-40B4-BE49-F238E27FC236}">
                  <a16:creationId xmlns:a16="http://schemas.microsoft.com/office/drawing/2014/main" id="{F613B1FF-D085-DD94-3A23-BA9193D8D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4" y="3997"/>
              <a:ext cx="136" cy="2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 sz="135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Rectangle 189">
              <a:extLst>
                <a:ext uri="{FF2B5EF4-FFF2-40B4-BE49-F238E27FC236}">
                  <a16:creationId xmlns:a16="http://schemas.microsoft.com/office/drawing/2014/main" id="{18CAC698-A9B0-251A-BB04-2BC2B397A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0" y="3997"/>
              <a:ext cx="136" cy="2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 sz="135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7" name="Freeform 190">
              <a:extLst>
                <a:ext uri="{FF2B5EF4-FFF2-40B4-BE49-F238E27FC236}">
                  <a16:creationId xmlns:a16="http://schemas.microsoft.com/office/drawing/2014/main" id="{EDCA1CC4-E697-90B9-64BF-ED68D80E1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1" y="4020"/>
              <a:ext cx="159" cy="22"/>
            </a:xfrm>
            <a:custGeom>
              <a:avLst/>
              <a:gdLst>
                <a:gd name="T0" fmla="*/ 23 w 159"/>
                <a:gd name="T1" fmla="*/ 0 h 22"/>
                <a:gd name="T2" fmla="*/ 0 w 159"/>
                <a:gd name="T3" fmla="*/ 22 h 22"/>
                <a:gd name="T4" fmla="*/ 136 w 159"/>
                <a:gd name="T5" fmla="*/ 22 h 22"/>
                <a:gd name="T6" fmla="*/ 159 w 159"/>
                <a:gd name="T7" fmla="*/ 0 h 22"/>
                <a:gd name="T8" fmla="*/ 23 w 159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2">
                  <a:moveTo>
                    <a:pt x="23" y="0"/>
                  </a:moveTo>
                  <a:lnTo>
                    <a:pt x="0" y="22"/>
                  </a:lnTo>
                  <a:lnTo>
                    <a:pt x="136" y="22"/>
                  </a:lnTo>
                  <a:lnTo>
                    <a:pt x="159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sz="135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8" name="Freeform 191">
              <a:extLst>
                <a:ext uri="{FF2B5EF4-FFF2-40B4-BE49-F238E27FC236}">
                  <a16:creationId xmlns:a16="http://schemas.microsoft.com/office/drawing/2014/main" id="{E7E8F7C9-2384-AF22-A1D5-5B51E17D6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4020"/>
              <a:ext cx="159" cy="22"/>
            </a:xfrm>
            <a:custGeom>
              <a:avLst/>
              <a:gdLst>
                <a:gd name="T0" fmla="*/ 23 w 159"/>
                <a:gd name="T1" fmla="*/ 0 h 22"/>
                <a:gd name="T2" fmla="*/ 0 w 159"/>
                <a:gd name="T3" fmla="*/ 22 h 22"/>
                <a:gd name="T4" fmla="*/ 136 w 159"/>
                <a:gd name="T5" fmla="*/ 22 h 22"/>
                <a:gd name="T6" fmla="*/ 159 w 159"/>
                <a:gd name="T7" fmla="*/ 0 h 22"/>
                <a:gd name="T8" fmla="*/ 23 w 159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2">
                  <a:moveTo>
                    <a:pt x="23" y="0"/>
                  </a:moveTo>
                  <a:lnTo>
                    <a:pt x="0" y="22"/>
                  </a:lnTo>
                  <a:lnTo>
                    <a:pt x="136" y="22"/>
                  </a:lnTo>
                  <a:lnTo>
                    <a:pt x="159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sz="135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Freeform 192">
              <a:extLst>
                <a:ext uri="{FF2B5EF4-FFF2-40B4-BE49-F238E27FC236}">
                  <a16:creationId xmlns:a16="http://schemas.microsoft.com/office/drawing/2014/main" id="{1FC96FE7-8852-1BD9-8411-4605F4B6B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8" y="4042"/>
              <a:ext cx="726" cy="114"/>
            </a:xfrm>
            <a:custGeom>
              <a:avLst/>
              <a:gdLst>
                <a:gd name="T0" fmla="*/ 113 w 726"/>
                <a:gd name="T1" fmla="*/ 0 h 114"/>
                <a:gd name="T2" fmla="*/ 726 w 726"/>
                <a:gd name="T3" fmla="*/ 0 h 114"/>
                <a:gd name="T4" fmla="*/ 612 w 726"/>
                <a:gd name="T5" fmla="*/ 114 h 114"/>
                <a:gd name="T6" fmla="*/ 0 w 726"/>
                <a:gd name="T7" fmla="*/ 114 h 114"/>
                <a:gd name="T8" fmla="*/ 113 w 726"/>
                <a:gd name="T9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6" h="114">
                  <a:moveTo>
                    <a:pt x="113" y="0"/>
                  </a:moveTo>
                  <a:lnTo>
                    <a:pt x="726" y="0"/>
                  </a:lnTo>
                  <a:lnTo>
                    <a:pt x="612" y="114"/>
                  </a:lnTo>
                  <a:lnTo>
                    <a:pt x="0" y="11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sz="135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Freeform 193">
              <a:extLst>
                <a:ext uri="{FF2B5EF4-FFF2-40B4-BE49-F238E27FC236}">
                  <a16:creationId xmlns:a16="http://schemas.microsoft.com/office/drawing/2014/main" id="{17AF1B56-3D5C-FE3A-3DE8-02F378A8A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" y="4156"/>
              <a:ext cx="204" cy="45"/>
            </a:xfrm>
            <a:custGeom>
              <a:avLst/>
              <a:gdLst>
                <a:gd name="T0" fmla="*/ 204 w 204"/>
                <a:gd name="T1" fmla="*/ 0 h 45"/>
                <a:gd name="T2" fmla="*/ 45 w 204"/>
                <a:gd name="T3" fmla="*/ 0 h 45"/>
                <a:gd name="T4" fmla="*/ 0 w 204"/>
                <a:gd name="T5" fmla="*/ 45 h 45"/>
                <a:gd name="T6" fmla="*/ 159 w 204"/>
                <a:gd name="T7" fmla="*/ 45 h 45"/>
                <a:gd name="T8" fmla="*/ 204 w 204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" h="45">
                  <a:moveTo>
                    <a:pt x="204" y="0"/>
                  </a:moveTo>
                  <a:lnTo>
                    <a:pt x="45" y="0"/>
                  </a:lnTo>
                  <a:lnTo>
                    <a:pt x="0" y="45"/>
                  </a:lnTo>
                  <a:lnTo>
                    <a:pt x="159" y="45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sz="135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Freeform 194">
              <a:extLst>
                <a:ext uri="{FF2B5EF4-FFF2-40B4-BE49-F238E27FC236}">
                  <a16:creationId xmlns:a16="http://schemas.microsoft.com/office/drawing/2014/main" id="{D018921A-8C21-0161-DF2E-D5B052E0C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" y="3453"/>
              <a:ext cx="885" cy="816"/>
            </a:xfrm>
            <a:custGeom>
              <a:avLst/>
              <a:gdLst>
                <a:gd name="T0" fmla="*/ 885 w 885"/>
                <a:gd name="T1" fmla="*/ 0 h 816"/>
                <a:gd name="T2" fmla="*/ 227 w 885"/>
                <a:gd name="T3" fmla="*/ 0 h 816"/>
                <a:gd name="T4" fmla="*/ 204 w 885"/>
                <a:gd name="T5" fmla="*/ 22 h 816"/>
                <a:gd name="T6" fmla="*/ 204 w 885"/>
                <a:gd name="T7" fmla="*/ 567 h 816"/>
                <a:gd name="T8" fmla="*/ 0 w 885"/>
                <a:gd name="T9" fmla="*/ 771 h 816"/>
                <a:gd name="T10" fmla="*/ 0 w 885"/>
                <a:gd name="T11" fmla="*/ 816 h 816"/>
                <a:gd name="T12" fmla="*/ 658 w 885"/>
                <a:gd name="T13" fmla="*/ 816 h 816"/>
                <a:gd name="T14" fmla="*/ 862 w 885"/>
                <a:gd name="T15" fmla="*/ 612 h 816"/>
                <a:gd name="T16" fmla="*/ 862 w 885"/>
                <a:gd name="T17" fmla="*/ 567 h 816"/>
                <a:gd name="T18" fmla="*/ 885 w 885"/>
                <a:gd name="T19" fmla="*/ 544 h 816"/>
                <a:gd name="T20" fmla="*/ 885 w 885"/>
                <a:gd name="T21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5" h="816">
                  <a:moveTo>
                    <a:pt x="885" y="0"/>
                  </a:moveTo>
                  <a:lnTo>
                    <a:pt x="227" y="0"/>
                  </a:lnTo>
                  <a:lnTo>
                    <a:pt x="204" y="22"/>
                  </a:lnTo>
                  <a:lnTo>
                    <a:pt x="204" y="567"/>
                  </a:lnTo>
                  <a:lnTo>
                    <a:pt x="0" y="771"/>
                  </a:lnTo>
                  <a:lnTo>
                    <a:pt x="0" y="816"/>
                  </a:lnTo>
                  <a:lnTo>
                    <a:pt x="658" y="816"/>
                  </a:lnTo>
                  <a:lnTo>
                    <a:pt x="862" y="612"/>
                  </a:lnTo>
                  <a:lnTo>
                    <a:pt x="862" y="567"/>
                  </a:lnTo>
                  <a:lnTo>
                    <a:pt x="885" y="544"/>
                  </a:lnTo>
                  <a:lnTo>
                    <a:pt x="885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sz="135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A7FCB672-67A8-5824-17F3-050061CB6FD4}"/>
              </a:ext>
            </a:extLst>
          </p:cNvPr>
          <p:cNvSpPr txBox="1"/>
          <p:nvPr/>
        </p:nvSpPr>
        <p:spPr>
          <a:xfrm>
            <a:off x="1404643" y="874174"/>
            <a:ext cx="3121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岡山国際サーキット様</a:t>
            </a:r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 LOCAL</a:t>
            </a:r>
            <a:r>
              <a:rPr kumimoji="1"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環境</a:t>
            </a:r>
          </a:p>
        </p:txBody>
      </p:sp>
      <p:sp>
        <p:nvSpPr>
          <p:cNvPr id="83" name="角丸四角形吹き出し 82">
            <a:extLst>
              <a:ext uri="{FF2B5EF4-FFF2-40B4-BE49-F238E27FC236}">
                <a16:creationId xmlns:a16="http://schemas.microsoft.com/office/drawing/2014/main" id="{185EDD28-EEB7-6F24-098B-BB1F6FE4C57A}"/>
              </a:ext>
            </a:extLst>
          </p:cNvPr>
          <p:cNvSpPr/>
          <p:nvPr/>
        </p:nvSpPr>
        <p:spPr>
          <a:xfrm>
            <a:off x="3057235" y="4544291"/>
            <a:ext cx="4137168" cy="840509"/>
          </a:xfrm>
          <a:prstGeom prst="wedgeRoundRectCallout">
            <a:avLst>
              <a:gd name="adj1" fmla="val 4399"/>
              <a:gd name="adj2" fmla="val -101237"/>
              <a:gd name="adj3" fmla="val 166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SMIS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受信および、インターネット回線が必要となります。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5EDC0AD7-BA9C-0311-7A81-C34C813A54D4}"/>
              </a:ext>
            </a:extLst>
          </p:cNvPr>
          <p:cNvSpPr txBox="1"/>
          <p:nvPr/>
        </p:nvSpPr>
        <p:spPr>
          <a:xfrm>
            <a:off x="10347199" y="874174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お客様環境</a:t>
            </a:r>
            <a:endParaRPr kumimoji="1" lang="en-US" altLang="ja-JP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1754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DCB13-D488-809C-0DD2-122036ED2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14F410E-7AC9-8F1C-B573-97F7EE9A5BC8}"/>
              </a:ext>
            </a:extLst>
          </p:cNvPr>
          <p:cNvCxnSpPr>
            <a:cxnSpLocks/>
          </p:cNvCxnSpPr>
          <p:nvPr/>
        </p:nvCxnSpPr>
        <p:spPr>
          <a:xfrm>
            <a:off x="0" y="669851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6A1CDC4-3D49-CD5F-E9E0-239CC9F22AA4}"/>
              </a:ext>
            </a:extLst>
          </p:cNvPr>
          <p:cNvSpPr txBox="1"/>
          <p:nvPr/>
        </p:nvSpPr>
        <p:spPr>
          <a:xfrm>
            <a:off x="0" y="109728"/>
            <a:ext cx="27350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サービス利用について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94A9D0-3952-9326-AA5D-EFE3F17AB47B}"/>
              </a:ext>
            </a:extLst>
          </p:cNvPr>
          <p:cNvSpPr txBox="1"/>
          <p:nvPr/>
        </p:nvSpPr>
        <p:spPr>
          <a:xfrm>
            <a:off x="183584" y="983971"/>
            <a:ext cx="12008416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1. </a:t>
            </a:r>
            <a:r>
              <a:rPr lang="ja-JP" altLang="en-US" sz="1600" b="1">
                <a:latin typeface="Meiryo UI" panose="020B0604030504040204" pitchFamily="34" charset="-128"/>
                <a:ea typeface="Meiryo UI" panose="020B0604030504040204" pitchFamily="34" charset="-128"/>
              </a:rPr>
              <a:t>ご提供内容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弊社クラウドサーバー上に </a:t>
            </a:r>
            <a:r>
              <a:rPr lang="en" altLang="ja-JP" sz="1600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LiveTiming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配信環境を構築し、専用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URL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にてサービスをご提供いたします。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お客様は、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PC</a:t>
            </a:r>
            <a:r>
              <a:rPr lang="ja-JP" altLang="en" sz="1600">
                <a:latin typeface="Meiryo UI" panose="020B0604030504040204" pitchFamily="34" charset="-128"/>
                <a:ea typeface="Meiryo UI" panose="020B0604030504040204" pitchFamily="34" charset="-128"/>
              </a:rPr>
              <a:t>・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スマートフォン・タブレット等の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Web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ブラウザより </a:t>
            </a:r>
            <a:r>
              <a:rPr lang="en" altLang="ja-JP" sz="1600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LiveTiming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を閲覧いただけます。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現地で受信した 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MOLA 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システム</a:t>
            </a:r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(SMIS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フォーマット</a:t>
            </a:r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)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のデータを、弊社クラウドサーバーへ送信し、リアルタイムに表示用データを生成・配信いたします。</a:t>
            </a:r>
          </a:p>
          <a:p>
            <a:b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</a:br>
            <a:endParaRPr lang="ja-JP" altLang="en-US" sz="160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2. </a:t>
            </a:r>
            <a:r>
              <a:rPr lang="ja-JP" altLang="en-US" sz="1600" b="1">
                <a:latin typeface="Meiryo UI" panose="020B0604030504040204" pitchFamily="34" charset="-128"/>
                <a:ea typeface="Meiryo UI" panose="020B0604030504040204" pitchFamily="34" charset="-128"/>
              </a:rPr>
              <a:t>ご利用条件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現地にて、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MOLA 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システムからのデータ受信環境が必要となります。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クラウドサーバーへのデータ送信には、インターネット接続環境が必要です。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閲覧端末側でも、</a:t>
            </a:r>
            <a:r>
              <a:rPr lang="en" altLang="ja-JP" sz="1600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LiveTiming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ページへアクセスするためのネットワーク環境が必要です。</a:t>
            </a:r>
          </a:p>
          <a:p>
            <a:b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</a:br>
            <a:endParaRPr lang="ja-JP" altLang="en-US" sz="160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3. </a:t>
            </a:r>
            <a:r>
              <a:rPr lang="ja-JP" altLang="en-US" sz="1600" b="1">
                <a:latin typeface="Meiryo UI" panose="020B0604030504040204" pitchFamily="34" charset="-128"/>
                <a:ea typeface="Meiryo UI" panose="020B0604030504040204" pitchFamily="34" charset="-128"/>
              </a:rPr>
              <a:t>運用について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本サービスの月額費用には、クラウドサーバー利用料および </a:t>
            </a:r>
            <a:r>
              <a:rPr lang="en" altLang="ja-JP" sz="1600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LiveTiming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サービス運用費が含まれます。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同時接続数に応じて、クラウドサーバーの構成を調整いたします。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ドメイン取得、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SSL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設定、サーバー運用は弊社にて対応いたします。</a:t>
            </a:r>
          </a:p>
          <a:p>
            <a:b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</a:br>
            <a:endParaRPr lang="ja-JP" altLang="en-US" sz="160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4. </a:t>
            </a:r>
            <a:r>
              <a:rPr lang="ja-JP" altLang="en-US" sz="1600" b="1">
                <a:latin typeface="Meiryo UI" panose="020B0604030504040204" pitchFamily="34" charset="-128"/>
                <a:ea typeface="Meiryo UI" panose="020B0604030504040204" pitchFamily="34" charset="-128"/>
              </a:rPr>
              <a:t>オプション対応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場内パドック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Wi-Fi 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利用者のみに限定したアクセス制御も可能です。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公開範囲の制限、接続元制御等の個別要件については、別途調整対応いたします。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画面デザインや表示項目の追加変更についても、内容に応じて別途ご提案可能です。</a:t>
            </a:r>
          </a:p>
        </p:txBody>
      </p:sp>
    </p:spTree>
    <p:extLst>
      <p:ext uri="{BB962C8B-B14F-4D97-AF65-F5344CB8AC3E}">
        <p14:creationId xmlns:p14="http://schemas.microsoft.com/office/powerpoint/2010/main" val="2149217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49621-AAC5-AA81-5F73-2ED036D3C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0E22E8C-8AF2-4CE8-C844-FA7770E2B743}"/>
              </a:ext>
            </a:extLst>
          </p:cNvPr>
          <p:cNvCxnSpPr>
            <a:cxnSpLocks/>
          </p:cNvCxnSpPr>
          <p:nvPr/>
        </p:nvCxnSpPr>
        <p:spPr>
          <a:xfrm>
            <a:off x="0" y="669851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EC8E8E2-CD08-A2C4-199D-9B9AE563C23B}"/>
              </a:ext>
            </a:extLst>
          </p:cNvPr>
          <p:cNvSpPr txBox="1"/>
          <p:nvPr/>
        </p:nvSpPr>
        <p:spPr>
          <a:xfrm>
            <a:off x="0" y="109728"/>
            <a:ext cx="4629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ドメインおよび、クラウドサーバについて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0A6D7DA-E59E-B0AD-481F-ECACAD98C73D}"/>
              </a:ext>
            </a:extLst>
          </p:cNvPr>
          <p:cNvSpPr txBox="1"/>
          <p:nvPr/>
        </p:nvSpPr>
        <p:spPr>
          <a:xfrm>
            <a:off x="241540" y="992850"/>
            <a:ext cx="7920758" cy="5755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1. </a:t>
            </a:r>
            <a:r>
              <a:rPr lang="ja-JP" altLang="en-US" sz="1600" b="1">
                <a:latin typeface="Meiryo UI" panose="020B0604030504040204" pitchFamily="34" charset="-128"/>
                <a:ea typeface="Meiryo UI" panose="020B0604030504040204" pitchFamily="34" charset="-128"/>
              </a:rPr>
              <a:t>ドメインについて</a:t>
            </a:r>
          </a:p>
          <a:p>
            <a:r>
              <a:rPr lang="en" altLang="ja-JP" sz="1600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LiveTiming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サービス公開用として、専用ドメインを取得し運用いたします。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ドメインは </a:t>
            </a:r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.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com 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を基本案とし、取得・設定・更新管理を弊社にて対応いたします。</a:t>
            </a:r>
          </a:p>
          <a:p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SSL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証明書の設定もあわせて実施し、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HTTPS 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による安全なアクセス環境をご提供いたします。</a:t>
            </a:r>
          </a:p>
          <a:p>
            <a:b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</a:br>
            <a:endParaRPr lang="ja-JP" altLang="en-US" sz="160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2. </a:t>
            </a:r>
            <a:r>
              <a:rPr lang="ja-JP" altLang="en-US" sz="1600" b="1">
                <a:latin typeface="Meiryo UI" panose="020B0604030504040204" pitchFamily="34" charset="-128"/>
                <a:ea typeface="Meiryo UI" panose="020B0604030504040204" pitchFamily="34" charset="-128"/>
              </a:rPr>
              <a:t>クラウドサーバについて</a:t>
            </a:r>
          </a:p>
          <a:p>
            <a:r>
              <a:rPr lang="en" altLang="ja-JP" sz="1600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LiveTiming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サービスは、弊社契約のクラウドサーバー上で運用いたします。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クラウドサーバー上では、データ受信、データ生成、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Web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ページ配信を行います。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同時接続数に応じて、サーバースペックを調整し、安定した閲覧環境を提供いたします。</a:t>
            </a:r>
          </a:p>
          <a:p>
            <a:b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</a:br>
            <a:endParaRPr lang="ja-JP" altLang="en-US" sz="160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3. </a:t>
            </a:r>
            <a:r>
              <a:rPr lang="ja-JP" altLang="en-US" sz="1600" b="1">
                <a:latin typeface="Meiryo UI" panose="020B0604030504040204" pitchFamily="34" charset="-128"/>
                <a:ea typeface="Meiryo UI" panose="020B0604030504040204" pitchFamily="34" charset="-128"/>
              </a:rPr>
              <a:t>サーバー構成について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想定同時接続数に応じて、</a:t>
            </a:r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4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GB 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または </a:t>
            </a:r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8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GB 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構成を選定いたします。</a:t>
            </a:r>
          </a:p>
          <a:p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200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人～</a:t>
            </a:r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300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人規模では </a:t>
            </a:r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4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GB 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構成、</a:t>
            </a:r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500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人規模では </a:t>
            </a:r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8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GB 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構成を基本想定としております。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実際の運用状況に応じて、必要に応じた増強対応も可能です。</a:t>
            </a:r>
          </a:p>
          <a:p>
            <a:b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</a:br>
            <a:endParaRPr lang="ja-JP" altLang="en-US" sz="160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4. </a:t>
            </a:r>
            <a:r>
              <a:rPr lang="ja-JP" altLang="en-US" sz="1600" b="1">
                <a:latin typeface="Meiryo UI" panose="020B0604030504040204" pitchFamily="34" charset="-128"/>
                <a:ea typeface="Meiryo UI" panose="020B0604030504040204" pitchFamily="34" charset="-128"/>
              </a:rPr>
              <a:t>運用管理について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サーバーの初期構築、ドメイン設定、</a:t>
            </a:r>
            <a:r>
              <a:rPr lang="en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SSL</a:t>
            </a:r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設定は弊社にて実施いたします。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本番運用時は、サーバー監視、プログラム常駐管理、障害対応を行います。</a:t>
            </a:r>
          </a:p>
          <a:p>
            <a:r>
              <a:rPr lang="ja-JP" altLang="en-US" sz="1600">
                <a:latin typeface="Meiryo UI" panose="020B0604030504040204" pitchFamily="34" charset="-128"/>
                <a:ea typeface="Meiryo UI" panose="020B0604030504040204" pitchFamily="34" charset="-128"/>
              </a:rPr>
              <a:t>同時接続数別の月額費用については、概算見積ページをご参照ください。</a:t>
            </a:r>
          </a:p>
          <a:p>
            <a:endParaRPr kumimoji="1" lang="ja-JP" altLang="en-US" sz="16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DA553E7-E378-27DE-3B77-D6624F0672AC}"/>
              </a:ext>
            </a:extLst>
          </p:cNvPr>
          <p:cNvSpPr txBox="1"/>
          <p:nvPr/>
        </p:nvSpPr>
        <p:spPr>
          <a:xfrm>
            <a:off x="8419380" y="992850"/>
            <a:ext cx="36042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☆ドメイン例</a:t>
            </a:r>
            <a:endParaRPr kumimoji="1"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endParaRPr kumimoji="1"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kumimoji="1"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①mola-timing-</a:t>
            </a:r>
            <a:r>
              <a:rPr kumimoji="1" lang="en-US" altLang="ja-JP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okayama.com</a:t>
            </a:r>
            <a:endParaRPr kumimoji="1"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kumimoji="1"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②mola-timing-</a:t>
            </a:r>
            <a:r>
              <a:rPr kumimoji="1" lang="en-US" altLang="ja-JP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okayama.jp</a:t>
            </a:r>
            <a:endParaRPr kumimoji="1"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endParaRPr kumimoji="1"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01714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2">
            <a:extLst>
              <a:ext uri="{FF2B5EF4-FFF2-40B4-BE49-F238E27FC236}">
                <a16:creationId xmlns:a16="http://schemas.microsoft.com/office/drawing/2014/main" id="{18BC9567-2ED5-504C-B2FA-ACC094337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998" y="1028700"/>
            <a:ext cx="10298906" cy="386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57" tIns="54428" rIns="108857" bIns="54428">
            <a:spAutoFit/>
          </a:bodyPr>
          <a:lstStyle>
            <a:lvl1pPr algn="ctr">
              <a:spcBef>
                <a:spcPts val="1000"/>
              </a:spcBef>
              <a:defRPr sz="42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1pPr>
            <a:lvl2pPr marL="1450975" indent="-725488" algn="ctr">
              <a:spcBef>
                <a:spcPts val="900"/>
              </a:spcBef>
              <a:defRPr sz="3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2pPr>
            <a:lvl3pPr marL="2176463" indent="-725488" algn="ctr">
              <a:spcBef>
                <a:spcPts val="800"/>
              </a:spcBef>
              <a:defRPr sz="32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3pPr>
            <a:lvl4pPr marL="1600200" indent="-228600" algn="ctr">
              <a:spcBef>
                <a:spcPts val="600"/>
              </a:spcBef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4pPr>
            <a:lvl5pPr marL="2057400" indent="-228600" algn="ctr">
              <a:spcBef>
                <a:spcPts val="600"/>
              </a:spcBef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5pPr>
            <a:lvl6pPr marL="25146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6pPr>
            <a:lvl7pPr marL="29718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7pPr>
            <a:lvl8pPr marL="34290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8pPr>
            <a:lvl9pPr marL="38862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ja-JP" altLang="en-US" sz="180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初期導入費用（</a:t>
            </a:r>
            <a:r>
              <a:rPr lang="en-US" altLang="ja-JP" sz="1800" dirty="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One</a:t>
            </a:r>
            <a:r>
              <a:rPr lang="ja-JP" altLang="en-US" sz="180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 </a:t>
            </a:r>
            <a:r>
              <a:rPr lang="en-US" altLang="ja-JP" sz="1800" dirty="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Time Fee</a:t>
            </a:r>
            <a:r>
              <a:rPr lang="ja-JP" altLang="en-US" sz="180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）　</a:t>
            </a:r>
            <a:endParaRPr lang="en-US" altLang="ja-JP" sz="1350" dirty="0">
              <a:solidFill>
                <a:srgbClr val="FF0000"/>
              </a:solidFill>
              <a:latin typeface="HGP創英角ｺﾞｼｯｸUB" panose="020B0900000000000000" pitchFamily="34" charset="-128"/>
              <a:ea typeface="HGP創英角ｺﾞｼｯｸUB" panose="020B0900000000000000" pitchFamily="34" charset="-128"/>
              <a:sym typeface="Gill Sans" panose="020B0502020104020203" pitchFamily="34" charset="-79"/>
            </a:endParaRPr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35B1772C-CA78-AA4C-99B5-8D26BC57C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270847"/>
              </p:ext>
            </p:extLst>
          </p:nvPr>
        </p:nvGraphicFramePr>
        <p:xfrm>
          <a:off x="838201" y="2057401"/>
          <a:ext cx="10286999" cy="2433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2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8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3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99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597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4182">
                <a:tc gridSpan="4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38" marR="3938" marT="3938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38" marR="3938" marT="393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182"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38" marR="3938" marT="393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182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岡山国際サーキット様向け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 </a:t>
                      </a:r>
                      <a:r>
                        <a:rPr lang="en-US" altLang="ja-JP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LiveTiming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38" marR="3938" marT="3938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82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＃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項目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内容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38" marR="3938" marT="39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内容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単価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数量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小計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50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1</a:t>
                      </a: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初期導入費用（</a:t>
                      </a:r>
                      <a:r>
                        <a:rPr 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One time）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Ansible tower</a:t>
                      </a:r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の構築</a:t>
                      </a:r>
                      <a:b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en-US" sz="1400" u="none" strike="noStrike" dirty="0" err="1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Linux、Ansible</a:t>
                      </a:r>
                      <a:r>
                        <a:rPr 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Tower</a:t>
                      </a:r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の初期環境構築</a:t>
                      </a:r>
                      <a:b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・要件確認</a:t>
                      </a:r>
                      <a:b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Playbook</a:t>
                      </a:r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作成</a:t>
                      </a:r>
                      <a:b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・テスト環境へ実装、テスト</a:t>
                      </a:r>
                      <a:b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・本番移行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38" marR="3938" marT="39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・初期インフラ環境構築</a:t>
                      </a:r>
                      <a:endParaRPr lang="en-US" altLang="ja-JP" sz="1100" u="none" strike="noStrike" dirty="0"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・</a:t>
                      </a:r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SMIS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送受信アプリ</a:t>
                      </a:r>
                      <a:endParaRPr lang="en-US" altLang="ja-JP" sz="1100" u="none" strike="noStrike" dirty="0"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・</a:t>
                      </a:r>
                      <a:r>
                        <a:rPr lang="en-US" altLang="ja-JP" sz="1100" u="none" strike="noStrike" dirty="0" err="1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LiveTiming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用データ生成</a:t>
                      </a:r>
                      <a:endParaRPr lang="en-US" altLang="ja-JP" sz="1100" u="none" strike="noStrike" dirty="0"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・</a:t>
                      </a:r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Web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ページ制作およびデザイン調整</a:t>
                      </a:r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(PC,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スマホ対応</a:t>
                      </a:r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)</a:t>
                      </a:r>
                      <a:br>
                        <a:rPr lang="ja-JP" altLang="en-US" sz="1100" u="none" strike="noStrike">
                          <a:solidFill>
                            <a:srgbClr val="FF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</a:br>
                      <a:r>
                        <a:rPr lang="ja-JP" altLang="en-US" sz="1100" u="none" strike="noStrike">
                          <a:solidFill>
                            <a:schemeClr val="tx1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・結合、総合、ユーザーテスト</a:t>
                      </a:r>
                      <a:endParaRPr lang="ja-JP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¥950,000</a:t>
                      </a: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¥950,000</a:t>
                      </a: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182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合計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38" marR="3938" marT="39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¥950,000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638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</a:t>
                      </a:r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消費税は含まれておりません。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38" marR="3938" marT="3938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2954" marR="2954" marT="295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643332D8-B1F1-32D6-1FB7-003FCFAFA317}"/>
              </a:ext>
            </a:extLst>
          </p:cNvPr>
          <p:cNvCxnSpPr>
            <a:cxnSpLocks/>
          </p:cNvCxnSpPr>
          <p:nvPr/>
        </p:nvCxnSpPr>
        <p:spPr>
          <a:xfrm>
            <a:off x="0" y="669851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3855F72-D84E-B6CB-1342-647F6F66DB02}"/>
              </a:ext>
            </a:extLst>
          </p:cNvPr>
          <p:cNvSpPr txBox="1"/>
          <p:nvPr/>
        </p:nvSpPr>
        <p:spPr>
          <a:xfrm>
            <a:off x="0" y="109728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概算見積もり</a:t>
            </a:r>
            <a:endParaRPr kumimoji="1" lang="en-US" altLang="ja-JP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1574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2">
            <a:extLst>
              <a:ext uri="{FF2B5EF4-FFF2-40B4-BE49-F238E27FC236}">
                <a16:creationId xmlns:a16="http://schemas.microsoft.com/office/drawing/2014/main" id="{0032112F-584E-EC43-BAB6-AA5D87B9E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998" y="1028700"/>
            <a:ext cx="10298906" cy="386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57" tIns="54428" rIns="108857" bIns="54428">
            <a:spAutoFit/>
          </a:bodyPr>
          <a:lstStyle>
            <a:lvl1pPr algn="ctr">
              <a:spcBef>
                <a:spcPts val="1000"/>
              </a:spcBef>
              <a:defRPr sz="42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1pPr>
            <a:lvl2pPr marL="1450975" indent="-725488" algn="ctr">
              <a:spcBef>
                <a:spcPts val="900"/>
              </a:spcBef>
              <a:defRPr sz="3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2pPr>
            <a:lvl3pPr marL="2176463" indent="-725488" algn="ctr">
              <a:spcBef>
                <a:spcPts val="800"/>
              </a:spcBef>
              <a:defRPr sz="32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3pPr>
            <a:lvl4pPr marL="1600200" indent="-228600" algn="ctr">
              <a:spcBef>
                <a:spcPts val="600"/>
              </a:spcBef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4pPr>
            <a:lvl5pPr marL="2057400" indent="-228600" algn="ctr">
              <a:spcBef>
                <a:spcPts val="600"/>
              </a:spcBef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5pPr>
            <a:lvl6pPr marL="25146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6pPr>
            <a:lvl7pPr marL="29718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7pPr>
            <a:lvl8pPr marL="34290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8pPr>
            <a:lvl9pPr marL="38862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ja-JP" altLang="en-US" sz="180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月額費用（</a:t>
            </a:r>
            <a:r>
              <a:rPr lang="en-US" altLang="ja-JP" sz="1800" dirty="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Monthly Fee</a:t>
            </a:r>
            <a:r>
              <a:rPr lang="ja-JP" altLang="en-US" sz="180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）　</a:t>
            </a:r>
            <a:r>
              <a:rPr lang="en-US" altLang="ja-JP" sz="1800" dirty="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※</a:t>
            </a:r>
            <a:r>
              <a:rPr lang="ja-JP" altLang="en-US" sz="180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同時接続</a:t>
            </a:r>
            <a:r>
              <a:rPr lang="en-US" altLang="ja-JP" sz="1800" dirty="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 200</a:t>
            </a:r>
            <a:r>
              <a:rPr lang="ja-JP" altLang="en-US" sz="180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人を想定</a:t>
            </a:r>
            <a:r>
              <a:rPr lang="ja-JP" altLang="en-US" sz="180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　</a:t>
            </a:r>
            <a:endParaRPr lang="en-US" altLang="ja-JP" sz="1350" dirty="0">
              <a:solidFill>
                <a:srgbClr val="FF0000"/>
              </a:solidFill>
              <a:latin typeface="HGP創英角ｺﾞｼｯｸUB" panose="020B0900000000000000" pitchFamily="34" charset="-128"/>
              <a:ea typeface="HGP創英角ｺﾞｼｯｸUB" panose="020B0900000000000000" pitchFamily="34" charset="-128"/>
              <a:sym typeface="Gill Sans" panose="020B0502020104020203" pitchFamily="34" charset="-79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C8C87934-D78C-5646-8197-8F3B71709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741044"/>
              </p:ext>
            </p:extLst>
          </p:nvPr>
        </p:nvGraphicFramePr>
        <p:xfrm>
          <a:off x="851298" y="1890712"/>
          <a:ext cx="10287001" cy="3005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0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5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5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4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72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68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245"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834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岡山国際サーキット様向け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 </a:t>
                      </a:r>
                      <a:r>
                        <a:rPr lang="en-US" altLang="ja-JP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LiveTiming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＃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項目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内容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内容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単価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数量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小計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6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1</a:t>
                      </a: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システム月額</a:t>
                      </a:r>
                      <a:r>
                        <a:rPr kumimoji="1" lang="ja-JP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利用料</a:t>
                      </a: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システム及び他・サーバー使用料・保守・運用・ドメイン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¥70,000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¥70,000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合計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¥70,000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834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※1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）機能拡充及びセキュリティ対策の為、年間複数回のアップデートを行います</a:t>
                      </a:r>
                      <a:endParaRPr lang="en-US" altLang="ja-JP" sz="1100" u="none" strike="noStrike" dirty="0"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※2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）クラウドサーバー利用料</a:t>
                      </a:r>
                      <a:endParaRPr lang="en-US" altLang="ja-JP" sz="1100" u="none" strike="noStrike" dirty="0"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※3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）ドメイン・</a:t>
                      </a:r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SSL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維持管理</a:t>
                      </a:r>
                      <a:endParaRPr lang="en-US" altLang="ja-JP" sz="1100" u="none" strike="noStrike" dirty="0"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※4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</a:t>
                      </a:r>
                      <a:r>
                        <a:rPr lang="en-US" altLang="ja-JP" sz="1100" u="none" strike="noStrike" dirty="0" err="1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LiveTiming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利用料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834">
                <a:tc gridSpan="5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197">
                <a:tc gridSpan="5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24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消費税は含まれておりません。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2DAABE71-7C34-A922-94C8-B1EAA5B1F88F}"/>
              </a:ext>
            </a:extLst>
          </p:cNvPr>
          <p:cNvCxnSpPr>
            <a:cxnSpLocks/>
          </p:cNvCxnSpPr>
          <p:nvPr/>
        </p:nvCxnSpPr>
        <p:spPr>
          <a:xfrm>
            <a:off x="0" y="669851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D903B4-6355-DA93-D90D-E0A80F5280A7}"/>
              </a:ext>
            </a:extLst>
          </p:cNvPr>
          <p:cNvSpPr txBox="1"/>
          <p:nvPr/>
        </p:nvSpPr>
        <p:spPr>
          <a:xfrm>
            <a:off x="0" y="109728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概算見積もり</a:t>
            </a:r>
            <a:endParaRPr kumimoji="1" lang="en-US" altLang="ja-JP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6256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405F-79D9-6C0B-A682-0C3928DDA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2">
            <a:extLst>
              <a:ext uri="{FF2B5EF4-FFF2-40B4-BE49-F238E27FC236}">
                <a16:creationId xmlns:a16="http://schemas.microsoft.com/office/drawing/2014/main" id="{3DEC8B96-364F-59E0-92C8-589458E9D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998" y="1028700"/>
            <a:ext cx="10298906" cy="386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57" tIns="54428" rIns="108857" bIns="54428">
            <a:spAutoFit/>
          </a:bodyPr>
          <a:lstStyle>
            <a:lvl1pPr algn="ctr">
              <a:spcBef>
                <a:spcPts val="1000"/>
              </a:spcBef>
              <a:defRPr sz="42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1pPr>
            <a:lvl2pPr marL="1450975" indent="-725488" algn="ctr">
              <a:spcBef>
                <a:spcPts val="900"/>
              </a:spcBef>
              <a:defRPr sz="3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2pPr>
            <a:lvl3pPr marL="2176463" indent="-725488" algn="ctr">
              <a:spcBef>
                <a:spcPts val="800"/>
              </a:spcBef>
              <a:defRPr sz="32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3pPr>
            <a:lvl4pPr marL="1600200" indent="-228600" algn="ctr">
              <a:spcBef>
                <a:spcPts val="600"/>
              </a:spcBef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4pPr>
            <a:lvl5pPr marL="2057400" indent="-228600" algn="ctr">
              <a:spcBef>
                <a:spcPts val="600"/>
              </a:spcBef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5pPr>
            <a:lvl6pPr marL="25146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6pPr>
            <a:lvl7pPr marL="29718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7pPr>
            <a:lvl8pPr marL="34290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8pPr>
            <a:lvl9pPr marL="38862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ja-JP" altLang="en-US" sz="180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月額費用（</a:t>
            </a:r>
            <a:r>
              <a:rPr lang="en-US" altLang="ja-JP" sz="1800" dirty="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Monthly Fee</a:t>
            </a:r>
            <a:r>
              <a:rPr lang="ja-JP" altLang="en-US" sz="180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）　</a:t>
            </a:r>
            <a:r>
              <a:rPr lang="en-US" altLang="ja-JP" sz="1800" dirty="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※</a:t>
            </a:r>
            <a:r>
              <a:rPr lang="ja-JP" altLang="en-US" sz="180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同時接続</a:t>
            </a:r>
            <a:r>
              <a:rPr lang="en-US" altLang="ja-JP" sz="1800" dirty="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 300</a:t>
            </a:r>
            <a:r>
              <a:rPr lang="ja-JP" altLang="en-US" sz="180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人を想定</a:t>
            </a:r>
            <a:r>
              <a:rPr lang="ja-JP" altLang="en-US" sz="180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　</a:t>
            </a:r>
            <a:endParaRPr lang="en-US" altLang="ja-JP" sz="1350" dirty="0">
              <a:solidFill>
                <a:srgbClr val="FF0000"/>
              </a:solidFill>
              <a:latin typeface="HGP創英角ｺﾞｼｯｸUB" panose="020B0900000000000000" pitchFamily="34" charset="-128"/>
              <a:ea typeface="HGP創英角ｺﾞｼｯｸUB" panose="020B0900000000000000" pitchFamily="34" charset="-128"/>
              <a:sym typeface="Gill Sans" panose="020B0502020104020203" pitchFamily="34" charset="-79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48C0AA82-C365-1A87-77EF-C9D5A4574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160485"/>
              </p:ext>
            </p:extLst>
          </p:nvPr>
        </p:nvGraphicFramePr>
        <p:xfrm>
          <a:off x="851298" y="1890712"/>
          <a:ext cx="10287001" cy="3005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0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5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5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4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72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68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245"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834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岡山国際サーキット様向け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 </a:t>
                      </a:r>
                      <a:r>
                        <a:rPr lang="en-US" altLang="ja-JP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LiveTiming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＃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項目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内容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内容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単価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数量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小計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6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1</a:t>
                      </a: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システム月額</a:t>
                      </a:r>
                      <a:r>
                        <a:rPr kumimoji="1" lang="ja-JP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利用料</a:t>
                      </a: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システム及び他・サーバー使用料・保守・運用・ドメイン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¥78,000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¥78,000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合計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¥78,000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834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※1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）機能拡充及びセキュリティ対策の為、年間複数回のアップデートを行います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834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※2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）クラウドサーバー利用料</a:t>
                      </a:r>
                      <a:endParaRPr lang="en-US" altLang="ja-JP" sz="1100" u="none" strike="noStrike" dirty="0"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※3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）ドメイン・</a:t>
                      </a:r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SSL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維持管理</a:t>
                      </a:r>
                      <a:endParaRPr lang="en-US" altLang="ja-JP" sz="1100" u="none" strike="noStrike" dirty="0"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※4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</a:t>
                      </a:r>
                      <a:r>
                        <a:rPr lang="en-US" altLang="ja-JP" sz="1100" u="none" strike="noStrike" dirty="0" err="1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LiveTiming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利用料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197">
                <a:tc gridSpan="5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24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消費税は含まれておりません。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945C31B2-4641-978F-86D3-29C7E8356A18}"/>
              </a:ext>
            </a:extLst>
          </p:cNvPr>
          <p:cNvCxnSpPr>
            <a:cxnSpLocks/>
          </p:cNvCxnSpPr>
          <p:nvPr/>
        </p:nvCxnSpPr>
        <p:spPr>
          <a:xfrm>
            <a:off x="0" y="669851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002365-9505-4BA2-8F62-94732D111659}"/>
              </a:ext>
            </a:extLst>
          </p:cNvPr>
          <p:cNvSpPr txBox="1"/>
          <p:nvPr/>
        </p:nvSpPr>
        <p:spPr>
          <a:xfrm>
            <a:off x="0" y="109728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概算見積もり</a:t>
            </a:r>
            <a:endParaRPr kumimoji="1" lang="en-US" altLang="ja-JP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1344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D78A2-AA4D-3EFB-30B8-CAE9F42B3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2">
            <a:extLst>
              <a:ext uri="{FF2B5EF4-FFF2-40B4-BE49-F238E27FC236}">
                <a16:creationId xmlns:a16="http://schemas.microsoft.com/office/drawing/2014/main" id="{FBCF76C3-D4AC-551D-2DB2-B621EE386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998" y="1028700"/>
            <a:ext cx="10298906" cy="386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57" tIns="54428" rIns="108857" bIns="54428">
            <a:spAutoFit/>
          </a:bodyPr>
          <a:lstStyle>
            <a:lvl1pPr algn="ctr">
              <a:spcBef>
                <a:spcPts val="1000"/>
              </a:spcBef>
              <a:defRPr sz="42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1pPr>
            <a:lvl2pPr marL="1450975" indent="-725488" algn="ctr">
              <a:spcBef>
                <a:spcPts val="900"/>
              </a:spcBef>
              <a:defRPr sz="3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2pPr>
            <a:lvl3pPr marL="2176463" indent="-725488" algn="ctr">
              <a:spcBef>
                <a:spcPts val="800"/>
              </a:spcBef>
              <a:defRPr sz="32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3pPr>
            <a:lvl4pPr marL="1600200" indent="-228600" algn="ctr">
              <a:spcBef>
                <a:spcPts val="600"/>
              </a:spcBef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4pPr>
            <a:lvl5pPr marL="2057400" indent="-228600" algn="ctr">
              <a:spcBef>
                <a:spcPts val="600"/>
              </a:spcBef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5pPr>
            <a:lvl6pPr marL="25146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6pPr>
            <a:lvl7pPr marL="29718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7pPr>
            <a:lvl8pPr marL="34290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8pPr>
            <a:lvl9pPr marL="38862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ja-JP" altLang="en-US" sz="180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月額費用（</a:t>
            </a:r>
            <a:r>
              <a:rPr lang="en-US" altLang="ja-JP" sz="1800" dirty="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Monthly Fee</a:t>
            </a:r>
            <a:r>
              <a:rPr lang="ja-JP" altLang="en-US" sz="180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）　</a:t>
            </a:r>
            <a:r>
              <a:rPr lang="en-US" altLang="ja-JP" sz="1800" dirty="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※</a:t>
            </a:r>
            <a:r>
              <a:rPr lang="ja-JP" altLang="en-US" sz="180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同時接続</a:t>
            </a:r>
            <a:r>
              <a:rPr lang="en-US" altLang="ja-JP" sz="1800" dirty="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 400</a:t>
            </a:r>
            <a:r>
              <a:rPr lang="ja-JP" altLang="en-US" sz="180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人を想定</a:t>
            </a:r>
            <a:r>
              <a:rPr lang="ja-JP" altLang="en-US" sz="180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　</a:t>
            </a:r>
            <a:endParaRPr lang="en-US" altLang="ja-JP" sz="1350" dirty="0">
              <a:solidFill>
                <a:srgbClr val="FF0000"/>
              </a:solidFill>
              <a:latin typeface="HGP創英角ｺﾞｼｯｸUB" panose="020B0900000000000000" pitchFamily="34" charset="-128"/>
              <a:ea typeface="HGP創英角ｺﾞｼｯｸUB" panose="020B0900000000000000" pitchFamily="34" charset="-128"/>
              <a:sym typeface="Gill Sans" panose="020B0502020104020203" pitchFamily="34" charset="-79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0E688556-A18E-E0B0-A2C9-1A459E6B4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494177"/>
              </p:ext>
            </p:extLst>
          </p:nvPr>
        </p:nvGraphicFramePr>
        <p:xfrm>
          <a:off x="851298" y="1890712"/>
          <a:ext cx="10287001" cy="3005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0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5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5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4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72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68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245"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834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岡山国際サーキット様向け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 </a:t>
                      </a:r>
                      <a:r>
                        <a:rPr lang="en-US" altLang="ja-JP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LiveTiming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＃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項目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内容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内容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単価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数量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小計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6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1</a:t>
                      </a: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システム月額</a:t>
                      </a:r>
                      <a:r>
                        <a:rPr kumimoji="1" lang="ja-JP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利用料</a:t>
                      </a: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システム及び他・サーバー使用料・保守・運用・ドメイン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¥86,000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¥86,000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合計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¥86,000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834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※1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）機能拡充及びセキュリティ対策の為、年間複数回のアップデートを行います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834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※2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）クラウドサーバー利用料</a:t>
                      </a:r>
                      <a:endParaRPr lang="en-US" altLang="ja-JP" sz="1100" u="none" strike="noStrike" dirty="0"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※3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）ドメイン・</a:t>
                      </a:r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SSL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維持管理</a:t>
                      </a:r>
                      <a:endParaRPr lang="en-US" altLang="ja-JP" sz="1100" u="none" strike="noStrike" dirty="0"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※4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</a:t>
                      </a:r>
                      <a:r>
                        <a:rPr lang="en-US" altLang="ja-JP" sz="1100" u="none" strike="noStrike" dirty="0" err="1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LiveTiming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利用料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197">
                <a:tc gridSpan="5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24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消費税は含まれておりません。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34AF15AC-A1EC-C3E1-6B44-75104290D256}"/>
              </a:ext>
            </a:extLst>
          </p:cNvPr>
          <p:cNvCxnSpPr>
            <a:cxnSpLocks/>
          </p:cNvCxnSpPr>
          <p:nvPr/>
        </p:nvCxnSpPr>
        <p:spPr>
          <a:xfrm>
            <a:off x="0" y="669851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32728FE-F7B4-E094-F673-0C1025B015B5}"/>
              </a:ext>
            </a:extLst>
          </p:cNvPr>
          <p:cNvSpPr txBox="1"/>
          <p:nvPr/>
        </p:nvSpPr>
        <p:spPr>
          <a:xfrm>
            <a:off x="0" y="109728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概算見積もり</a:t>
            </a:r>
            <a:endParaRPr kumimoji="1" lang="en-US" altLang="ja-JP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71334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5D15C-B66D-7D59-E714-2440854F5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2">
            <a:extLst>
              <a:ext uri="{FF2B5EF4-FFF2-40B4-BE49-F238E27FC236}">
                <a16:creationId xmlns:a16="http://schemas.microsoft.com/office/drawing/2014/main" id="{0D507633-8130-8046-22BC-8B4DC4548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998" y="1028700"/>
            <a:ext cx="10298906" cy="386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57" tIns="54428" rIns="108857" bIns="54428">
            <a:spAutoFit/>
          </a:bodyPr>
          <a:lstStyle>
            <a:lvl1pPr algn="ctr">
              <a:spcBef>
                <a:spcPts val="1000"/>
              </a:spcBef>
              <a:defRPr sz="42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1pPr>
            <a:lvl2pPr marL="1450975" indent="-725488" algn="ctr">
              <a:spcBef>
                <a:spcPts val="900"/>
              </a:spcBef>
              <a:defRPr sz="3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2pPr>
            <a:lvl3pPr marL="2176463" indent="-725488" algn="ctr">
              <a:spcBef>
                <a:spcPts val="800"/>
              </a:spcBef>
              <a:defRPr sz="32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3pPr>
            <a:lvl4pPr marL="1600200" indent="-228600" algn="ctr">
              <a:spcBef>
                <a:spcPts val="600"/>
              </a:spcBef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4pPr>
            <a:lvl5pPr marL="2057400" indent="-228600" algn="ctr">
              <a:spcBef>
                <a:spcPts val="600"/>
              </a:spcBef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5pPr>
            <a:lvl6pPr marL="25146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6pPr>
            <a:lvl7pPr marL="29718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7pPr>
            <a:lvl8pPr marL="34290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8pPr>
            <a:lvl9pPr marL="3886200" indent="-228600" algn="ctr" eaLnBrk="0" fontAlgn="base" hangingPunct="0">
              <a:spcBef>
                <a:spcPts val="600"/>
              </a:spcBef>
              <a:spcAft>
                <a:spcPct val="0"/>
              </a:spcAft>
              <a:defRPr sz="2600">
                <a:solidFill>
                  <a:srgbClr val="878787"/>
                </a:solidFill>
                <a:latin typeface="Lucida Grande" panose="020B0600040502020204" pitchFamily="34" charset="0"/>
                <a:ea typeface="ヒラギノ角ゴ ProN W3" panose="020B0300000000000000" pitchFamily="34" charset="-128"/>
                <a:sym typeface="Lucida Grande" panose="020B060004050202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ja-JP" altLang="en-US" sz="180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月額費用（</a:t>
            </a:r>
            <a:r>
              <a:rPr lang="en-US" altLang="ja-JP" sz="1800" dirty="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Monthly Fee</a:t>
            </a:r>
            <a:r>
              <a:rPr lang="ja-JP" altLang="en-US" sz="180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）　</a:t>
            </a:r>
            <a:r>
              <a:rPr lang="en-US" altLang="ja-JP" sz="1800" dirty="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※</a:t>
            </a:r>
            <a:r>
              <a:rPr lang="ja-JP" altLang="en-US" sz="180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同時接続</a:t>
            </a:r>
            <a:r>
              <a:rPr lang="en-US" altLang="ja-JP" sz="1800" dirty="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 500</a:t>
            </a:r>
            <a:r>
              <a:rPr lang="ja-JP" altLang="en-US" sz="1800">
                <a:solidFill>
                  <a:srgbClr val="FF0000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人を想定</a:t>
            </a:r>
            <a:r>
              <a:rPr lang="ja-JP" altLang="en-US" sz="1800">
                <a:solidFill>
                  <a:schemeClr val="tx1"/>
                </a:solidFill>
                <a:latin typeface="HGP創英角ｺﾞｼｯｸUB" panose="020B0900000000000000" pitchFamily="34" charset="-128"/>
                <a:ea typeface="HGP創英角ｺﾞｼｯｸUB" panose="020B0900000000000000" pitchFamily="34" charset="-128"/>
                <a:sym typeface="Gill Sans" panose="020B0502020104020203" pitchFamily="34" charset="-79"/>
              </a:rPr>
              <a:t>　</a:t>
            </a:r>
            <a:endParaRPr lang="en-US" altLang="ja-JP" sz="1350" dirty="0">
              <a:solidFill>
                <a:srgbClr val="FF0000"/>
              </a:solidFill>
              <a:latin typeface="HGP創英角ｺﾞｼｯｸUB" panose="020B0900000000000000" pitchFamily="34" charset="-128"/>
              <a:ea typeface="HGP創英角ｺﾞｼｯｸUB" panose="020B0900000000000000" pitchFamily="34" charset="-128"/>
              <a:sym typeface="Gill Sans" panose="020B0502020104020203" pitchFamily="34" charset="-79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DEFD3255-42CD-C31A-4F20-F235FFE1F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99419"/>
              </p:ext>
            </p:extLst>
          </p:nvPr>
        </p:nvGraphicFramePr>
        <p:xfrm>
          <a:off x="851298" y="1890712"/>
          <a:ext cx="10287001" cy="3005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0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5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5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4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72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68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245"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834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岡山国際サーキット様向け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 </a:t>
                      </a:r>
                      <a:r>
                        <a:rPr lang="en-US" altLang="ja-JP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LiveTiming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＃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項目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内容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内容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単価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数量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小計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6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1</a:t>
                      </a: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システム月額</a:t>
                      </a:r>
                      <a:r>
                        <a:rPr kumimoji="1" lang="ja-JP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利用料</a:t>
                      </a: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システム及び他・サーバー使用料・保守・運用・ドメイン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¥98,000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¥98,000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合計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　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¥98,000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834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※1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）機能拡充及びセキュリティ対策の為、年間複数回のアップデートを行います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834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※2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）クラウドサーバー利用料</a:t>
                      </a:r>
                      <a:endParaRPr lang="en-US" altLang="ja-JP" sz="1100" u="none" strike="noStrike" dirty="0"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※3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）ドメイン・</a:t>
                      </a:r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SSL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維持管理</a:t>
                      </a:r>
                      <a:endParaRPr lang="en-US" altLang="ja-JP" sz="1100" u="none" strike="noStrike" dirty="0"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※4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）</a:t>
                      </a:r>
                      <a:r>
                        <a:rPr lang="en-US" altLang="ja-JP" sz="1100" u="none" strike="noStrike" dirty="0" err="1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LiveTiming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利用料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197">
                <a:tc gridSpan="5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24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※</a:t>
                      </a:r>
                      <a:r>
                        <a:rPr lang="ja-JP" altLang="en-US" sz="1100" u="none" strike="noStrike">
                          <a:effectLst/>
                          <a:latin typeface="HGP創英角ｺﾞｼｯｸUB" panose="020B0900000000000000" pitchFamily="50" charset="-128"/>
                          <a:ea typeface="HGP創英角ｺﾞｼｯｸUB" panose="020B0900000000000000" pitchFamily="50" charset="-128"/>
                        </a:rPr>
                        <a:t>消費税は含まれておりません。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4192" marR="4192" marT="419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GP創英角ｺﾞｼｯｸUB" panose="020B0900000000000000" pitchFamily="50" charset="-128"/>
                        <a:ea typeface="HGP創英角ｺﾞｼｯｸUB" panose="020B0900000000000000" pitchFamily="50" charset="-128"/>
                      </a:endParaRPr>
                    </a:p>
                  </a:txBody>
                  <a:tcPr marL="3144" marR="3144" marT="31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3733CAC9-0034-D2E4-CD98-1A1645847892}"/>
              </a:ext>
            </a:extLst>
          </p:cNvPr>
          <p:cNvCxnSpPr>
            <a:cxnSpLocks/>
          </p:cNvCxnSpPr>
          <p:nvPr/>
        </p:nvCxnSpPr>
        <p:spPr>
          <a:xfrm>
            <a:off x="0" y="669851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7517CB-57EA-D290-D06D-18579EC21DED}"/>
              </a:ext>
            </a:extLst>
          </p:cNvPr>
          <p:cNvSpPr txBox="1"/>
          <p:nvPr/>
        </p:nvSpPr>
        <p:spPr>
          <a:xfrm>
            <a:off x="0" y="109728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概算見積もり</a:t>
            </a:r>
            <a:endParaRPr kumimoji="1" lang="en-US" altLang="ja-JP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8123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81CC4-17AC-F8CE-5278-356B0C9BE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AFEE98C-9CD6-5F70-1B31-D94847B9636C}"/>
              </a:ext>
            </a:extLst>
          </p:cNvPr>
          <p:cNvSpPr txBox="1"/>
          <p:nvPr/>
        </p:nvSpPr>
        <p:spPr>
          <a:xfrm>
            <a:off x="3705409" y="4938268"/>
            <a:ext cx="47811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b="1" dirty="0">
                <a:latin typeface="Meiryo UI" panose="020B0604030504040204" pitchFamily="34" charset="-128"/>
                <a:ea typeface="Meiryo UI" panose="020B0604030504040204" pitchFamily="34" charset="-128"/>
              </a:rPr>
              <a:t>Contact Us</a:t>
            </a:r>
          </a:p>
          <a:p>
            <a:endParaRPr lang="en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合同会社ヒューミッド</a:t>
            </a:r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(</a:t>
            </a:r>
            <a:r>
              <a:rPr lang="en-US" altLang="ja-JP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HuMid</a:t>
            </a:r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 LLC.)</a:t>
            </a:r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E-mail: </a:t>
            </a:r>
            <a:r>
              <a:rPr lang="en" altLang="ja-JP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ryunosuke_shidara@humid.co.jp</a:t>
            </a:r>
            <a:endParaRPr lang="en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TEL: 090-7427-4525</a:t>
            </a:r>
          </a:p>
          <a:p>
            <a:endParaRPr kumimoji="1"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8" name="図 7" descr="Desk">
            <a:extLst>
              <a:ext uri="{FF2B5EF4-FFF2-40B4-BE49-F238E27FC236}">
                <a16:creationId xmlns:a16="http://schemas.microsoft.com/office/drawing/2014/main" id="{FAEDDC72-D221-B774-86AA-441025456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589905" y="165406"/>
            <a:ext cx="7012188" cy="4528705"/>
          </a:xfrm>
          <a:prstGeom prst="rect">
            <a:avLst/>
          </a:prstGeom>
          <a:effectLst>
            <a:softEdge rad="1270000"/>
          </a:effectLst>
        </p:spPr>
      </p:pic>
    </p:spTree>
    <p:extLst>
      <p:ext uri="{BB962C8B-B14F-4D97-AF65-F5344CB8AC3E}">
        <p14:creationId xmlns:p14="http://schemas.microsoft.com/office/powerpoint/2010/main" val="3712198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172</TotalTime>
  <Words>1041</Words>
  <Application>Microsoft Macintosh PowerPoint</Application>
  <PresentationFormat>ワイド画面</PresentationFormat>
  <Paragraphs>205</Paragraphs>
  <Slides>11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9" baseType="lpstr">
      <vt:lpstr>HGP創英角ｺﾞｼｯｸUB</vt:lpstr>
      <vt:lpstr>Meiryo UI</vt:lpstr>
      <vt:lpstr>Meiryo</vt:lpstr>
      <vt:lpstr>游ゴシック</vt:lpstr>
      <vt:lpstr>Arial</vt:lpstr>
      <vt:lpstr>Calibri</vt:lpstr>
      <vt:lpstr>Calibri Light</vt:lpstr>
      <vt:lpstr>Office 2013 - 2022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Shidara Ryunosuke</dc:creator>
  <cp:lastModifiedBy>Shidara Ryunosuke</cp:lastModifiedBy>
  <cp:revision>9</cp:revision>
  <dcterms:created xsi:type="dcterms:W3CDTF">2026-04-15T00:49:59Z</dcterms:created>
  <dcterms:modified xsi:type="dcterms:W3CDTF">2026-04-15T03:43:18Z</dcterms:modified>
</cp:coreProperties>
</file>