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515600" cy="365760"/>
          </a:xfrm>
          <a:prstGeom prst="rect">
            <a:avLst/>
          </a:prstGeom>
          <a:noFill/>
        </p:spPr>
        <p:txBody>
          <a:bodyPr wrap="square">
            <a:spAutoFit/>
          </a:bodyPr>
          <a:lstStyle/>
          <a:p>
            <a:pPr algn="l"/>
            <a:r>
              <a:rPr sz="1400" b="1">
                <a:solidFill>
                  <a:srgbClr val="D97706"/>
                </a:solidFill>
                <a:latin typeface="Hiragino Sans"/>
                <a:ea typeface="Hiragino Sans"/>
                <a:cs typeface="Hiragino Sans"/>
              </a:rPr>
              <a:t>OKAYAMA INTERNATIONAL CIRCUIT</a:t>
            </a:r>
          </a:p>
        </p:txBody>
      </p:sp>
      <p:sp>
        <p:nvSpPr>
          <p:cNvPr id="6" name="TextBox 5"/>
          <p:cNvSpPr txBox="1"/>
          <p:nvPr/>
        </p:nvSpPr>
        <p:spPr>
          <a:xfrm>
            <a:off x="731520" y="1965960"/>
            <a:ext cx="10515600" cy="1005840"/>
          </a:xfrm>
          <a:prstGeom prst="rect">
            <a:avLst/>
          </a:prstGeom>
          <a:noFill/>
        </p:spPr>
        <p:txBody>
          <a:bodyPr wrap="square">
            <a:spAutoFit/>
          </a:bodyPr>
          <a:lstStyle/>
          <a:p>
            <a:pPr algn="l"/>
            <a:r>
              <a:rPr sz="4000" b="1">
                <a:solidFill>
                  <a:srgbClr val="FAFAF9"/>
                </a:solidFill>
                <a:latin typeface="Hiragino Sans"/>
                <a:ea typeface="Hiragino Sans"/>
                <a:cs typeface="Hiragino Sans"/>
              </a:rPr>
              <a:t>管理者ページ 操作説明</a:t>
            </a:r>
          </a:p>
        </p:txBody>
      </p:sp>
      <p:sp>
        <p:nvSpPr>
          <p:cNvPr id="7" name="TextBox 6"/>
          <p:cNvSpPr txBox="1"/>
          <p:nvPr/>
        </p:nvSpPr>
        <p:spPr>
          <a:xfrm>
            <a:off x="731520" y="3108960"/>
            <a:ext cx="10515600" cy="548640"/>
          </a:xfrm>
          <a:prstGeom prst="rect">
            <a:avLst/>
          </a:prstGeom>
          <a:noFill/>
        </p:spPr>
        <p:txBody>
          <a:bodyPr wrap="square">
            <a:spAutoFit/>
          </a:bodyPr>
          <a:lstStyle/>
          <a:p>
            <a:pPr algn="l"/>
            <a:r>
              <a:rPr sz="1800" b="0">
                <a:solidFill>
                  <a:srgbClr val="A1A1AA"/>
                </a:solidFill>
                <a:latin typeface="Hiragino Sans"/>
                <a:ea typeface="Hiragino Sans"/>
                <a:cs typeface="Hiragino Sans"/>
              </a:rPr>
              <a:t>MOLA Timing  ·  Live Timing / 履歴データの公開管理</a:t>
            </a:r>
          </a:p>
        </p:txBody>
      </p:sp>
      <p:sp>
        <p:nvSpPr>
          <p:cNvPr id="8" name="TextBox 7"/>
          <p:cNvSpPr txBox="1"/>
          <p:nvPr/>
        </p:nvSpPr>
        <p:spPr>
          <a:xfrm>
            <a:off x="731520" y="4937760"/>
            <a:ext cx="10515600" cy="731520"/>
          </a:xfrm>
          <a:prstGeom prst="rect">
            <a:avLst/>
          </a:prstGeom>
          <a:noFill/>
        </p:spPr>
        <p:txBody>
          <a:bodyPr wrap="square">
            <a:spAutoFit/>
          </a:bodyPr>
          <a:lstStyle/>
          <a:p>
            <a:pPr algn="l"/>
            <a:r>
              <a:rPr sz="1400" b="0">
                <a:solidFill>
                  <a:srgbClr val="71717A"/>
                </a:solidFill>
                <a:latin typeface="Hiragino Sans"/>
                <a:ea typeface="Hiragino Sans"/>
                <a:cs typeface="Hiragino Sans"/>
              </a:rPr>
              <a:t>2026-08-22  提供版
対象: 運営・事務局の管理者    ※ この資料と URL は関係者限り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この画面でできること</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2  /  14</a:t>
            </a:r>
          </a:p>
        </p:txBody>
      </p:sp>
      <p:sp>
        <p:nvSpPr>
          <p:cNvPr id="9" name="Rounded Rectangle 8"/>
          <p:cNvSpPr/>
          <p:nvPr/>
        </p:nvSpPr>
        <p:spPr>
          <a:xfrm>
            <a:off x="411480" y="1097280"/>
            <a:ext cx="3657600" cy="420624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97280"/>
            <a:ext cx="91440" cy="42062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61872"/>
            <a:ext cx="3246120" cy="329184"/>
          </a:xfrm>
          <a:prstGeom prst="rect">
            <a:avLst/>
          </a:prstGeom>
          <a:noFill/>
        </p:spPr>
        <p:txBody>
          <a:bodyPr wrap="square">
            <a:spAutoFit/>
          </a:bodyPr>
          <a:lstStyle/>
          <a:p>
            <a:pPr algn="l"/>
            <a:r>
              <a:rPr sz="1500" b="1">
                <a:solidFill>
                  <a:srgbClr val="D97706"/>
                </a:solidFill>
                <a:latin typeface="Hiragino Sans"/>
                <a:ea typeface="Hiragino Sans"/>
                <a:cs typeface="Hiragino Sans"/>
              </a:rPr>
              <a:t>履歴データ</a:t>
            </a:r>
          </a:p>
        </p:txBody>
      </p:sp>
      <p:sp>
        <p:nvSpPr>
          <p:cNvPr id="12" name="TextBox 11"/>
          <p:cNvSpPr txBox="1"/>
          <p:nvPr/>
        </p:nvSpPr>
        <p:spPr>
          <a:xfrm>
            <a:off x="667512" y="1572768"/>
            <a:ext cx="3246120" cy="3566160"/>
          </a:xfrm>
          <a:prstGeom prst="rect">
            <a:avLst/>
          </a:prstGeom>
          <a:noFill/>
        </p:spPr>
        <p:txBody>
          <a:bodyPr wrap="square">
            <a:spAutoFit/>
          </a:bodyPr>
          <a:lstStyle/>
          <a:p>
            <a:r>
              <a:rPr sz="1400" b="0">
                <a:solidFill>
                  <a:srgbClr val="FAFAF9"/>
                </a:solidFill>
                <a:latin typeface="Hiragino Sans"/>
                <a:ea typeface="Hiragino Sans"/>
                <a:cs typeface="Hiragino Sans"/>
              </a:rPr>
              <a:t>お客様が見る過去リザルトを、日付またはセッション単位で公開画面から外す／戻す。
大会名・セッション名など、表示名だけ変えることもできます。
非表示にしても計測データは消えません。</a:t>
            </a:r>
          </a:p>
        </p:txBody>
      </p:sp>
      <p:sp>
        <p:nvSpPr>
          <p:cNvPr id="13" name="Rounded Rectangle 12"/>
          <p:cNvSpPr/>
          <p:nvPr/>
        </p:nvSpPr>
        <p:spPr>
          <a:xfrm>
            <a:off x="4251960" y="1097280"/>
            <a:ext cx="3657600" cy="420624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097280"/>
            <a:ext cx="91440" cy="42062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261872"/>
            <a:ext cx="3246120" cy="329184"/>
          </a:xfrm>
          <a:prstGeom prst="rect">
            <a:avLst/>
          </a:prstGeom>
          <a:noFill/>
        </p:spPr>
        <p:txBody>
          <a:bodyPr wrap="square">
            <a:spAutoFit/>
          </a:bodyPr>
          <a:lstStyle/>
          <a:p>
            <a:pPr algn="l"/>
            <a:r>
              <a:rPr sz="1500" b="1">
                <a:solidFill>
                  <a:srgbClr val="34D399"/>
                </a:solidFill>
                <a:latin typeface="Hiragino Sans"/>
                <a:ea typeface="Hiragino Sans"/>
                <a:cs typeface="Hiragino Sans"/>
              </a:rPr>
              <a:t>Live表示</a:t>
            </a:r>
          </a:p>
        </p:txBody>
      </p:sp>
      <p:sp>
        <p:nvSpPr>
          <p:cNvPr id="16" name="TextBox 15"/>
          <p:cNvSpPr txBox="1"/>
          <p:nvPr/>
        </p:nvSpPr>
        <p:spPr>
          <a:xfrm>
            <a:off x="4507992" y="1572768"/>
            <a:ext cx="3246120" cy="3566160"/>
          </a:xfrm>
          <a:prstGeom prst="rect">
            <a:avLst/>
          </a:prstGeom>
          <a:noFill/>
        </p:spPr>
        <p:txBody>
          <a:bodyPr wrap="square">
            <a:spAutoFit/>
          </a:bodyPr>
          <a:lstStyle/>
          <a:p>
            <a:r>
              <a:rPr sz="1400" b="0">
                <a:solidFill>
                  <a:srgbClr val="FAFAF9"/>
                </a:solidFill>
                <a:latin typeface="Hiragino Sans"/>
                <a:ea typeface="Hiragino Sans"/>
                <a:cs typeface="Hiragino Sans"/>
              </a:rPr>
              <a:t>いま動いている Live Timing 表の列を、並び替え・名称変更・表示／非表示できます。
Car / Behind などのプルダウンの文字や初期表示も変えられます。
タイムの数値そのものは変わりません。</a:t>
            </a:r>
          </a:p>
        </p:txBody>
      </p:sp>
      <p:sp>
        <p:nvSpPr>
          <p:cNvPr id="17" name="Rounded Rectangle 16"/>
          <p:cNvSpPr/>
          <p:nvPr/>
        </p:nvSpPr>
        <p:spPr>
          <a:xfrm>
            <a:off x="8092440" y="1097280"/>
            <a:ext cx="3657600" cy="420624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097280"/>
            <a:ext cx="91440" cy="420624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1261872"/>
            <a:ext cx="3246120" cy="329184"/>
          </a:xfrm>
          <a:prstGeom prst="rect">
            <a:avLst/>
          </a:prstGeom>
          <a:noFill/>
        </p:spPr>
        <p:txBody>
          <a:bodyPr wrap="square">
            <a:spAutoFit/>
          </a:bodyPr>
          <a:lstStyle/>
          <a:p>
            <a:pPr algn="l"/>
            <a:r>
              <a:rPr sz="1500" b="1">
                <a:solidFill>
                  <a:srgbClr val="60A5FA"/>
                </a:solidFill>
                <a:latin typeface="Hiragino Sans"/>
                <a:ea typeface="Hiragino Sans"/>
                <a:cs typeface="Hiragino Sans"/>
              </a:rPr>
              <a:t>ユーザー</a:t>
            </a:r>
          </a:p>
        </p:txBody>
      </p:sp>
      <p:sp>
        <p:nvSpPr>
          <p:cNvPr id="20" name="TextBox 19"/>
          <p:cNvSpPr txBox="1"/>
          <p:nvPr/>
        </p:nvSpPr>
        <p:spPr>
          <a:xfrm>
            <a:off x="8348472" y="1572768"/>
            <a:ext cx="3246120" cy="3566160"/>
          </a:xfrm>
          <a:prstGeom prst="rect">
            <a:avLst/>
          </a:prstGeom>
          <a:noFill/>
        </p:spPr>
        <p:txBody>
          <a:bodyPr wrap="square">
            <a:spAutoFit/>
          </a:bodyPr>
          <a:lstStyle/>
          <a:p>
            <a:r>
              <a:rPr sz="1400" b="0">
                <a:solidFill>
                  <a:srgbClr val="FAFAF9"/>
                </a:solidFill>
                <a:latin typeface="Hiragino Sans"/>
                <a:ea typeface="Hiragino Sans"/>
                <a:cs typeface="Hiragino Sans"/>
              </a:rPr>
              <a:t>管理者アカウントの追加、パスワード変更、削除ができます。
管理画面では位置情報の許可は不要です。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開くアドレス（一般公開しない）</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3  /  14</a:t>
            </a:r>
          </a:p>
        </p:txBody>
      </p:sp>
      <p:sp>
        <p:nvSpPr>
          <p:cNvPr id="9" name="TextBox 8"/>
          <p:cNvSpPr txBox="1"/>
          <p:nvPr/>
        </p:nvSpPr>
        <p:spPr>
          <a:xfrm>
            <a:off x="457200" y="1143000"/>
            <a:ext cx="11247120" cy="365760"/>
          </a:xfrm>
          <a:prstGeom prst="rect">
            <a:avLst/>
          </a:prstGeom>
          <a:noFill/>
        </p:spPr>
        <p:txBody>
          <a:bodyPr wrap="square">
            <a:spAutoFit/>
          </a:bodyPr>
          <a:lstStyle/>
          <a:p>
            <a:pPr algn="l"/>
            <a:r>
              <a:rPr sz="1400" b="1">
                <a:solidFill>
                  <a:srgbClr val="D97706"/>
                </a:solidFill>
                <a:latin typeface="Hiragino Sans"/>
                <a:ea typeface="Hiragino Sans"/>
                <a:cs typeface="Hiragino Sans"/>
              </a:rPr>
              <a:t>管理者専用</a:t>
            </a:r>
          </a:p>
        </p:txBody>
      </p:sp>
      <p:sp>
        <p:nvSpPr>
          <p:cNvPr id="10" name="Rounded Rectangle 9"/>
          <p:cNvSpPr/>
          <p:nvPr/>
        </p:nvSpPr>
        <p:spPr>
          <a:xfrm>
            <a:off x="411480" y="1554480"/>
            <a:ext cx="11338560" cy="10515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83080"/>
            <a:ext cx="10972800" cy="640080"/>
          </a:xfrm>
          <a:prstGeom prst="rect">
            <a:avLst/>
          </a:prstGeom>
          <a:noFill/>
        </p:spPr>
        <p:txBody>
          <a:bodyPr wrap="square">
            <a:spAutoFit/>
          </a:bodyPr>
          <a:lstStyle/>
          <a:p>
            <a:pPr algn="l"/>
            <a:r>
              <a:rPr sz="2200" b="1">
                <a:solidFill>
                  <a:srgbClr val="FAFAF9"/>
                </a:solidFill>
                <a:latin typeface="Hiragino Sans"/>
                <a:ea typeface="Hiragino Sans"/>
                <a:cs typeface="Hiragino Sans"/>
              </a:rPr>
              <a:t>https://oic-timing-admin.mola-timing-okayama.com/</a:t>
            </a:r>
          </a:p>
        </p:txBody>
      </p:sp>
      <p:sp>
        <p:nvSpPr>
          <p:cNvPr id="12" name="TextBox 11"/>
          <p:cNvSpPr txBox="1"/>
          <p:nvPr/>
        </p:nvSpPr>
        <p:spPr>
          <a:xfrm>
            <a:off x="457200" y="2880360"/>
            <a:ext cx="11247120" cy="320040"/>
          </a:xfrm>
          <a:prstGeom prst="rect">
            <a:avLst/>
          </a:prstGeom>
          <a:noFill/>
        </p:spPr>
        <p:txBody>
          <a:bodyPr wrap="square">
            <a:spAutoFit/>
          </a:bodyPr>
          <a:lstStyle/>
          <a:p>
            <a:pPr algn="l"/>
            <a:r>
              <a:rPr sz="1400" b="1">
                <a:solidFill>
                  <a:srgbClr val="A1A1AA"/>
                </a:solidFill>
                <a:latin typeface="Hiragino Sans"/>
                <a:ea typeface="Hiragino Sans"/>
                <a:cs typeface="Hiragino Sans"/>
              </a:rPr>
              <a:t>お客様・関係者が使う画面（こちらは公開してよい）</a:t>
            </a:r>
          </a:p>
        </p:txBody>
      </p:sp>
      <p:graphicFrame>
        <p:nvGraphicFramePr>
          <p:cNvPr id="13" name="Table 12"/>
          <p:cNvGraphicFramePr>
            <a:graphicFrameLocks noGrp="1"/>
          </p:cNvGraphicFramePr>
          <p:nvPr/>
        </p:nvGraphicFramePr>
        <p:xfrm>
          <a:off x="411480" y="3246120"/>
          <a:ext cx="11338560" cy="1152144"/>
        </p:xfrm>
        <a:graphic>
          <a:graphicData uri="http://schemas.openxmlformats.org/drawingml/2006/table">
            <a:tbl>
              <a:tblPr firstRow="1" bandRow="1">
                <a:tableStyleId>{5C22544A-7EE6-4342-B048-85BDC9FD1C3A}</a:tableStyleId>
              </a:tblPr>
              <a:tblGrid>
                <a:gridCol w="4724400"/>
                <a:gridCol w="3779520"/>
                <a:gridCol w="2834640"/>
              </a:tblGrid>
              <a:tr h="384048">
                <a:tc>
                  <a:txBody>
                    <a:bodyPr wrap="square"/>
                    <a:lstStyle/>
                    <a:p>
                      <a:pPr algn="l"/>
                      <a:r>
                        <a:rPr sz="1300" b="1">
                          <a:solidFill>
                            <a:srgbClr val="FAFAF9"/>
                          </a:solidFill>
                          <a:latin typeface="Hiragino Sans"/>
                          <a:ea typeface="Hiragino Sans"/>
                          <a:cs typeface="Hiragino Sans"/>
                        </a:rPr>
                        <a:t>URL</a:t>
                      </a:r>
                    </a:p>
                  </a:txBody>
                  <a:tcPr>
                    <a:solidFill>
                      <a:srgbClr val="D97706"/>
                    </a:solidFill>
                  </a:tcPr>
                </a:tc>
                <a:tc>
                  <a:txBody>
                    <a:bodyPr wrap="square"/>
                    <a:lstStyle/>
                    <a:p>
                      <a:pPr algn="l"/>
                      <a:r>
                        <a:rPr sz="1300" b="1">
                          <a:solidFill>
                            <a:srgbClr val="FAFAF9"/>
                          </a:solidFill>
                          <a:latin typeface="Hiragino Sans"/>
                          <a:ea typeface="Hiragino Sans"/>
                          <a:cs typeface="Hiragino Sans"/>
                        </a:rPr>
                        <a:t>誰向け</a:t>
                      </a:r>
                    </a:p>
                  </a:txBody>
                  <a:tcPr>
                    <a:solidFill>
                      <a:srgbClr val="D97706"/>
                    </a:solidFill>
                  </a:tcPr>
                </a:tc>
                <a:tc>
                  <a:txBody>
                    <a:bodyPr wrap="square"/>
                    <a:lstStyle/>
                    <a:p>
                      <a:pPr algn="l"/>
                      <a:r>
                        <a:rPr sz="1300" b="1">
                          <a:solidFill>
                            <a:srgbClr val="FAFAF9"/>
                          </a:solidFill>
                          <a:latin typeface="Hiragino Sans"/>
                          <a:ea typeface="Hiragino Sans"/>
                          <a:cs typeface="Hiragino Sans"/>
                        </a:rPr>
                        <a:t>管理画面の変更</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https://mola-timing-okayama.com/</a:t>
                      </a:r>
                    </a:p>
                  </a:txBody>
                  <a:tcPr>
                    <a:solidFill>
                      <a:srgbClr val="18181B"/>
                    </a:solidFill>
                  </a:tcPr>
                </a:tc>
                <a:tc>
                  <a:txBody>
                    <a:bodyPr wrap="square"/>
                    <a:lstStyle/>
                    <a:p>
                      <a:pPr algn="l"/>
                      <a:r>
                        <a:rPr sz="1300" b="0">
                          <a:solidFill>
                            <a:srgbClr val="FAFAF9"/>
                          </a:solidFill>
                          <a:latin typeface="Hiragino Sans"/>
                          <a:ea typeface="Hiragino Sans"/>
                          <a:cs typeface="Hiragino Sans"/>
                        </a:rPr>
                        <a:t>一般（場内・位置情報あり）</a:t>
                      </a:r>
                    </a:p>
                  </a:txBody>
                  <a:tcPr>
                    <a:solidFill>
                      <a:srgbClr val="18181B"/>
                    </a:solidFill>
                  </a:tcPr>
                </a:tc>
                <a:tc>
                  <a:txBody>
                    <a:bodyPr wrap="square"/>
                    <a:lstStyle/>
                    <a:p>
                      <a:pPr algn="l"/>
                      <a:r>
                        <a:rPr sz="1300" b="0">
                          <a:solidFill>
                            <a:srgbClr val="FAFAF9"/>
                          </a:solidFill>
                          <a:latin typeface="Hiragino Sans"/>
                          <a:ea typeface="Hiragino Sans"/>
                          <a:cs typeface="Hiragino Sans"/>
                        </a:rPr>
                        <a:t>Live と履歴にそのまま出る</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https://oic-private.mola-timing-okayama.com/</a:t>
                      </a:r>
                    </a:p>
                  </a:txBody>
                  <a:tcPr>
                    <a:solidFill>
                      <a:srgbClr val="1C1C21"/>
                    </a:solidFill>
                  </a:tcPr>
                </a:tc>
                <a:tc>
                  <a:txBody>
                    <a:bodyPr wrap="square"/>
                    <a:lstStyle/>
                    <a:p>
                      <a:pPr algn="l"/>
                      <a:r>
                        <a:rPr sz="1300" b="0">
                          <a:solidFill>
                            <a:srgbClr val="FAFAF9"/>
                          </a:solidFill>
                          <a:latin typeface="Hiragino Sans"/>
                          <a:ea typeface="Hiragino Sans"/>
                          <a:cs typeface="Hiragino Sans"/>
                        </a:rPr>
                        <a:t>関係者（位置情報なし）</a:t>
                      </a:r>
                    </a:p>
                  </a:txBody>
                  <a:tcPr>
                    <a:solidFill>
                      <a:srgbClr val="1C1C21"/>
                    </a:solidFill>
                  </a:tcPr>
                </a:tc>
                <a:tc>
                  <a:txBody>
                    <a:bodyPr wrap="square"/>
                    <a:lstStyle/>
                    <a:p>
                      <a:pPr algn="l"/>
                      <a:r>
                        <a:rPr sz="1300" b="0">
                          <a:solidFill>
                            <a:srgbClr val="FAFAF9"/>
                          </a:solidFill>
                          <a:latin typeface="Hiragino Sans"/>
                          <a:ea typeface="Hiragino Sans"/>
                          <a:cs typeface="Hiragino Sans"/>
                        </a:rPr>
                        <a:t>同じ Live / 同じ履歴</a:t>
                      </a:r>
                    </a:p>
                  </a:txBody>
                  <a:tcPr>
                    <a:solidFill>
                      <a:srgbClr val="1C1C21"/>
                    </a:solidFill>
                  </a:tcPr>
                </a:tc>
              </a:tr>
            </a:tbl>
          </a:graphicData>
        </a:graphic>
      </p:graphicFrame>
      <p:sp>
        <p:nvSpPr>
          <p:cNvPr id="14" name="TextBox 13"/>
          <p:cNvSpPr txBox="1"/>
          <p:nvPr/>
        </p:nvSpPr>
        <p:spPr>
          <a:xfrm>
            <a:off x="457200" y="5806440"/>
            <a:ext cx="11247120" cy="365760"/>
          </a:xfrm>
          <a:prstGeom prst="rect">
            <a:avLst/>
          </a:prstGeom>
          <a:noFill/>
        </p:spPr>
        <p:txBody>
          <a:bodyPr wrap="square">
            <a:spAutoFit/>
          </a:bodyPr>
          <a:lstStyle/>
          <a:p>
            <a:pPr algn="l"/>
            <a:r>
              <a:rPr sz="1400" b="0">
                <a:solidFill>
                  <a:srgbClr val="A1A1AA"/>
                </a:solidFill>
                <a:latin typeface="Hiragino Sans"/>
                <a:ea typeface="Hiragino Sans"/>
                <a:cs typeface="Hiragino Sans"/>
              </a:rPr>
              <a:t>SNS・掲示・お客様案内に、管理者用 URL を載せないでください。一般向けからは管理画面は開けません。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ログイン</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4  /  14</a:t>
            </a:r>
          </a:p>
        </p:txBody>
      </p:sp>
      <p:sp>
        <p:nvSpPr>
          <p:cNvPr id="9" name="TextBox 8"/>
          <p:cNvSpPr txBox="1"/>
          <p:nvPr/>
        </p:nvSpPr>
        <p:spPr>
          <a:xfrm>
            <a:off x="457200" y="1097280"/>
            <a:ext cx="6583680" cy="2011680"/>
          </a:xfrm>
          <a:prstGeom prst="rect">
            <a:avLst/>
          </a:prstGeom>
          <a:noFill/>
        </p:spPr>
        <p:txBody>
          <a:bodyPr wrap="square">
            <a:spAutoFit/>
          </a:bodyPr>
          <a:lstStyle/>
          <a:p>
            <a:pPr>
              <a:spcAft>
                <a:spcPts val="1000"/>
              </a:spcAft>
            </a:pPr>
            <a:r>
              <a:rPr sz="1700" b="0">
                <a:solidFill>
                  <a:srgbClr val="FAFAF9"/>
                </a:solidFill>
                <a:latin typeface="Hiragino Sans"/>
                <a:ea typeface="Hiragino Sans"/>
                <a:cs typeface="Hiragino Sans"/>
              </a:rPr>
              <a:t>・  上の管理者 URL をブラウザで開く（自動で管理画面へ移動します）</a:t>
            </a:r>
          </a:p>
          <a:p>
            <a:pPr>
              <a:spcAft>
                <a:spcPts val="1000"/>
              </a:spcAft>
            </a:pPr>
            <a:r>
              <a:rPr sz="1700" b="0">
                <a:solidFill>
                  <a:srgbClr val="FAFAF9"/>
                </a:solidFill>
                <a:latin typeface="Hiragino Sans"/>
                <a:ea typeface="Hiragino Sans"/>
                <a:cs typeface="Hiragino Sans"/>
              </a:rPr>
              <a:t>・  ユーザー名とパスワードを入力し、「ログイン」を押す</a:t>
            </a:r>
          </a:p>
          <a:p>
            <a:pPr>
              <a:spcAft>
                <a:spcPts val="1000"/>
              </a:spcAft>
            </a:pPr>
            <a:r>
              <a:rPr sz="1700" b="0">
                <a:solidFill>
                  <a:srgbClr val="FAFAF9"/>
                </a:solidFill>
                <a:latin typeface="Hiragino Sans"/>
                <a:ea typeface="Hiragino Sans"/>
                <a:cs typeface="Hiragino Sans"/>
              </a:rPr>
              <a:t>・  使い始めたら、ユーザー画面でパスワードを変更してください</a:t>
            </a:r>
          </a:p>
        </p:txBody>
      </p:sp>
      <p:sp>
        <p:nvSpPr>
          <p:cNvPr id="10" name="Rounded Rectangle 9"/>
          <p:cNvSpPr/>
          <p:nvPr/>
        </p:nvSpPr>
        <p:spPr>
          <a:xfrm>
            <a:off x="7315200" y="1097280"/>
            <a:ext cx="4434840" cy="23317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1097280"/>
            <a:ext cx="91440" cy="23317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280160"/>
            <a:ext cx="4023360" cy="320040"/>
          </a:xfrm>
          <a:prstGeom prst="rect">
            <a:avLst/>
          </a:prstGeom>
          <a:noFill/>
        </p:spPr>
        <p:txBody>
          <a:bodyPr wrap="square">
            <a:spAutoFit/>
          </a:bodyPr>
          <a:lstStyle/>
          <a:p>
            <a:pPr algn="l"/>
            <a:r>
              <a:rPr sz="1300" b="1">
                <a:solidFill>
                  <a:srgbClr val="D97706"/>
                </a:solidFill>
                <a:latin typeface="Hiragino Sans"/>
                <a:ea typeface="Hiragino Sans"/>
                <a:cs typeface="Hiragino Sans"/>
              </a:rPr>
              <a:t>初回アカウント（2026-08-22）</a:t>
            </a:r>
          </a:p>
        </p:txBody>
      </p:sp>
      <p:sp>
        <p:nvSpPr>
          <p:cNvPr id="13" name="TextBox 12"/>
          <p:cNvSpPr txBox="1"/>
          <p:nvPr/>
        </p:nvSpPr>
        <p:spPr>
          <a:xfrm>
            <a:off x="7589520" y="1737360"/>
            <a:ext cx="4023360" cy="1371600"/>
          </a:xfrm>
          <a:prstGeom prst="rect">
            <a:avLst/>
          </a:prstGeom>
          <a:noFill/>
        </p:spPr>
        <p:txBody>
          <a:bodyPr wrap="square">
            <a:spAutoFit/>
          </a:bodyPr>
          <a:lstStyle/>
          <a:p>
            <a:pPr algn="l"/>
            <a:r>
              <a:rPr sz="1600" b="0">
                <a:solidFill>
                  <a:srgbClr val="FAFAF9"/>
                </a:solidFill>
                <a:latin typeface="Hiragino Sans"/>
                <a:ea typeface="Hiragino Sans"/>
                <a:cs typeface="Hiragino Sans"/>
              </a:rPr>
              <a:t>ユーザー名
   timing_oic
パスワード
   timing_oic</a:t>
            </a:r>
          </a:p>
        </p:txBody>
      </p:sp>
      <p:graphicFrame>
        <p:nvGraphicFramePr>
          <p:cNvPr id="14" name="Table 13"/>
          <p:cNvGraphicFramePr>
            <a:graphicFrameLocks noGrp="1"/>
          </p:cNvGraphicFramePr>
          <p:nvPr/>
        </p:nvGraphicFramePr>
        <p:xfrm>
          <a:off x="411480" y="3657600"/>
          <a:ext cx="11338560" cy="1536192"/>
        </p:xfrm>
        <a:graphic>
          <a:graphicData uri="http://schemas.openxmlformats.org/drawingml/2006/table">
            <a:tbl>
              <a:tblPr firstRow="1" bandRow="1">
                <a:tableStyleId>{5C22544A-7EE6-4342-B048-85BDC9FD1C3A}</a:tableStyleId>
              </a:tblPr>
              <a:tblGrid>
                <a:gridCol w="2267712"/>
                <a:gridCol w="9070848"/>
              </a:tblGrid>
              <a:tr h="384048">
                <a:tc>
                  <a:txBody>
                    <a:bodyPr wrap="square"/>
                    <a:lstStyle/>
                    <a:p>
                      <a:pPr algn="l"/>
                      <a:r>
                        <a:rPr sz="1300" b="1">
                          <a:solidFill>
                            <a:srgbClr val="FAFAF9"/>
                          </a:solidFill>
                          <a:latin typeface="Hiragino Sans"/>
                          <a:ea typeface="Hiragino Sans"/>
                          <a:cs typeface="Hiragino Sans"/>
                        </a:rPr>
                        <a:t>注意</a:t>
                      </a:r>
                    </a:p>
                  </a:txBody>
                  <a:tcPr>
                    <a:solidFill>
                      <a:srgbClr val="D97706"/>
                    </a:solidFill>
                  </a:tcPr>
                </a:tc>
                <a:tc>
                  <a:txBody>
                    <a:bodyPr wrap="square"/>
                    <a:lstStyle/>
                    <a:p>
                      <a:pPr algn="l"/>
                      <a:r>
                        <a:rPr sz="1300" b="1">
                          <a:solidFill>
                            <a:srgbClr val="FAFAF9"/>
                          </a:solidFill>
                          <a:latin typeface="Hiragino Sans"/>
                          <a:ea typeface="Hiragino Sans"/>
                          <a:cs typeface="Hiragino Sans"/>
                        </a:rPr>
                        <a:t>内容</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セッション</a:t>
                      </a:r>
                    </a:p>
                  </a:txBody>
                  <a:tcPr>
                    <a:solidFill>
                      <a:srgbClr val="18181B"/>
                    </a:solidFill>
                  </a:tcPr>
                </a:tc>
                <a:tc>
                  <a:txBody>
                    <a:bodyPr wrap="square"/>
                    <a:lstStyle/>
                    <a:p>
                      <a:pPr algn="l"/>
                      <a:r>
                        <a:rPr sz="1300" b="0">
                          <a:solidFill>
                            <a:srgbClr val="FAFAF9"/>
                          </a:solidFill>
                          <a:latin typeface="Hiragino Sans"/>
                          <a:ea typeface="Hiragino Sans"/>
                          <a:cs typeface="Hiragino Sans"/>
                        </a:rPr>
                        <a:t>操作中はログインが維持されます（目安 12 時間。操作が無いと切れます）</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切れたとき</a:t>
                      </a:r>
                    </a:p>
                  </a:txBody>
                  <a:tcPr>
                    <a:solidFill>
                      <a:srgbClr val="1C1C21"/>
                    </a:solidFill>
                  </a:tcPr>
                </a:tc>
                <a:tc>
                  <a:txBody>
                    <a:bodyPr wrap="square"/>
                    <a:lstStyle/>
                    <a:p>
                      <a:pPr algn="l"/>
                      <a:r>
                        <a:rPr sz="1300" b="0">
                          <a:solidFill>
                            <a:srgbClr val="FAFAF9"/>
                          </a:solidFill>
                          <a:latin typeface="Hiragino Sans"/>
                          <a:ea typeface="Hiragino Sans"/>
                          <a:cs typeface="Hiragino Sans"/>
                        </a:rPr>
                        <a:t>同じ画面で再度ログインしてください</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渡し方</a:t>
                      </a:r>
                    </a:p>
                  </a:txBody>
                  <a:tcPr>
                    <a:solidFill>
                      <a:srgbClr val="18181B"/>
                    </a:solidFill>
                  </a:tcPr>
                </a:tc>
                <a:tc>
                  <a:txBody>
                    <a:bodyPr wrap="square"/>
                    <a:lstStyle/>
                    <a:p>
                      <a:pPr algn="l"/>
                      <a:r>
                        <a:rPr sz="1300" b="0">
                          <a:solidFill>
                            <a:srgbClr val="FAFAF9"/>
                          </a:solidFill>
                          <a:latin typeface="Hiragino Sans"/>
                          <a:ea typeface="Hiragino Sans"/>
                          <a:cs typeface="Hiragino Sans"/>
                        </a:rPr>
                        <a:t>この資料ごと広く配らず、アカウントは口頭または別紙が安全です</a:t>
                      </a:r>
                    </a:p>
                  </a:txBody>
                  <a:tcPr>
                    <a:solidFill>
                      <a:srgbClr val="18181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画面の見方</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5  /  14</a:t>
            </a:r>
          </a:p>
        </p:txBody>
      </p:sp>
      <p:sp>
        <p:nvSpPr>
          <p:cNvPr id="9" name="TextBox 8"/>
          <p:cNvSpPr txBox="1"/>
          <p:nvPr/>
        </p:nvSpPr>
        <p:spPr>
          <a:xfrm>
            <a:off x="457200" y="1097280"/>
            <a:ext cx="11247120" cy="365760"/>
          </a:xfrm>
          <a:prstGeom prst="rect">
            <a:avLst/>
          </a:prstGeom>
          <a:noFill/>
        </p:spPr>
        <p:txBody>
          <a:bodyPr wrap="square">
            <a:spAutoFit/>
          </a:bodyPr>
          <a:lstStyle/>
          <a:p>
            <a:pPr algn="l"/>
            <a:r>
              <a:rPr sz="1600" b="0">
                <a:solidFill>
                  <a:srgbClr val="A1A1AA"/>
                </a:solidFill>
                <a:latin typeface="Hiragino Sans"/>
                <a:ea typeface="Hiragino Sans"/>
                <a:cs typeface="Hiragino Sans"/>
              </a:rPr>
              <a:t>ログイン後、画面上部のナビで切り替えます。</a:t>
            </a:r>
          </a:p>
        </p:txBody>
      </p:sp>
      <p:sp>
        <p:nvSpPr>
          <p:cNvPr id="10" name="Rounded Rectangle 9"/>
          <p:cNvSpPr/>
          <p:nvPr/>
        </p:nvSpPr>
        <p:spPr>
          <a:xfrm>
            <a:off x="411480" y="1600200"/>
            <a:ext cx="11338560" cy="7315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600200"/>
            <a:ext cx="91440" cy="7315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709928"/>
            <a:ext cx="2926080" cy="502920"/>
          </a:xfrm>
          <a:prstGeom prst="rect">
            <a:avLst/>
          </a:prstGeom>
          <a:noFill/>
        </p:spPr>
        <p:txBody>
          <a:bodyPr wrap="square">
            <a:spAutoFit/>
          </a:bodyPr>
          <a:lstStyle/>
          <a:p>
            <a:pPr algn="l"/>
            <a:r>
              <a:rPr sz="1800" b="1">
                <a:solidFill>
                  <a:srgbClr val="FAFAF9"/>
                </a:solidFill>
                <a:latin typeface="Hiragino Sans"/>
                <a:ea typeface="Hiragino Sans"/>
                <a:cs typeface="Hiragino Sans"/>
              </a:rPr>
              <a:t>履歴データ</a:t>
            </a:r>
          </a:p>
        </p:txBody>
      </p:sp>
      <p:sp>
        <p:nvSpPr>
          <p:cNvPr id="13" name="TextBox 12"/>
          <p:cNvSpPr txBox="1"/>
          <p:nvPr/>
        </p:nvSpPr>
        <p:spPr>
          <a:xfrm>
            <a:off x="3840480" y="1764792"/>
            <a:ext cx="7589520" cy="457200"/>
          </a:xfrm>
          <a:prstGeom prst="rect">
            <a:avLst/>
          </a:prstGeom>
          <a:noFill/>
        </p:spPr>
        <p:txBody>
          <a:bodyPr wrap="square">
            <a:spAutoFit/>
          </a:bodyPr>
          <a:lstStyle/>
          <a:p>
            <a:pPr algn="l"/>
            <a:r>
              <a:rPr sz="1600" b="0">
                <a:solidFill>
                  <a:srgbClr val="A1A1AA"/>
                </a:solidFill>
                <a:latin typeface="Hiragino Sans"/>
                <a:ea typeface="Hiragino Sans"/>
                <a:cs typeface="Hiragino Sans"/>
              </a:rPr>
              <a:t>過去リザルトの公開／非公開と表示名</a:t>
            </a:r>
          </a:p>
        </p:txBody>
      </p:sp>
      <p:sp>
        <p:nvSpPr>
          <p:cNvPr id="14" name="Rounded Rectangle 13"/>
          <p:cNvSpPr/>
          <p:nvPr/>
        </p:nvSpPr>
        <p:spPr>
          <a:xfrm>
            <a:off x="411480" y="2423160"/>
            <a:ext cx="11338560" cy="7315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423160"/>
            <a:ext cx="91440" cy="7315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32888"/>
            <a:ext cx="2926080" cy="502920"/>
          </a:xfrm>
          <a:prstGeom prst="rect">
            <a:avLst/>
          </a:prstGeom>
          <a:noFill/>
        </p:spPr>
        <p:txBody>
          <a:bodyPr wrap="square">
            <a:spAutoFit/>
          </a:bodyPr>
          <a:lstStyle/>
          <a:p>
            <a:pPr algn="l"/>
            <a:r>
              <a:rPr sz="1800" b="1">
                <a:solidFill>
                  <a:srgbClr val="FAFAF9"/>
                </a:solidFill>
                <a:latin typeface="Hiragino Sans"/>
                <a:ea typeface="Hiragino Sans"/>
                <a:cs typeface="Hiragino Sans"/>
              </a:rPr>
              <a:t>Live表示</a:t>
            </a:r>
          </a:p>
        </p:txBody>
      </p:sp>
      <p:sp>
        <p:nvSpPr>
          <p:cNvPr id="17" name="TextBox 16"/>
          <p:cNvSpPr txBox="1"/>
          <p:nvPr/>
        </p:nvSpPr>
        <p:spPr>
          <a:xfrm>
            <a:off x="3840480" y="2587752"/>
            <a:ext cx="7589520" cy="457200"/>
          </a:xfrm>
          <a:prstGeom prst="rect">
            <a:avLst/>
          </a:prstGeom>
          <a:noFill/>
        </p:spPr>
        <p:txBody>
          <a:bodyPr wrap="square">
            <a:spAutoFit/>
          </a:bodyPr>
          <a:lstStyle/>
          <a:p>
            <a:pPr algn="l"/>
            <a:r>
              <a:rPr sz="1600" b="0">
                <a:solidFill>
                  <a:srgbClr val="A1A1AA"/>
                </a:solidFill>
                <a:latin typeface="Hiragino Sans"/>
                <a:ea typeface="Hiragino Sans"/>
                <a:cs typeface="Hiragino Sans"/>
              </a:rPr>
              <a:t>いま動いている Live Timing 表の見た目</a:t>
            </a:r>
          </a:p>
        </p:txBody>
      </p:sp>
      <p:sp>
        <p:nvSpPr>
          <p:cNvPr id="18" name="Rounded Rectangle 17"/>
          <p:cNvSpPr/>
          <p:nvPr/>
        </p:nvSpPr>
        <p:spPr>
          <a:xfrm>
            <a:off x="411480" y="3246120"/>
            <a:ext cx="11338560" cy="7315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246120"/>
            <a:ext cx="91440" cy="7315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355848"/>
            <a:ext cx="2926080" cy="502920"/>
          </a:xfrm>
          <a:prstGeom prst="rect">
            <a:avLst/>
          </a:prstGeom>
          <a:noFill/>
        </p:spPr>
        <p:txBody>
          <a:bodyPr wrap="square">
            <a:spAutoFit/>
          </a:bodyPr>
          <a:lstStyle/>
          <a:p>
            <a:pPr algn="l"/>
            <a:r>
              <a:rPr sz="1800" b="1">
                <a:solidFill>
                  <a:srgbClr val="FAFAF9"/>
                </a:solidFill>
                <a:latin typeface="Hiragino Sans"/>
                <a:ea typeface="Hiragino Sans"/>
                <a:cs typeface="Hiragino Sans"/>
              </a:rPr>
              <a:t>ユーザー</a:t>
            </a:r>
          </a:p>
        </p:txBody>
      </p:sp>
      <p:sp>
        <p:nvSpPr>
          <p:cNvPr id="21" name="TextBox 20"/>
          <p:cNvSpPr txBox="1"/>
          <p:nvPr/>
        </p:nvSpPr>
        <p:spPr>
          <a:xfrm>
            <a:off x="3840480" y="3410712"/>
            <a:ext cx="7589520" cy="457200"/>
          </a:xfrm>
          <a:prstGeom prst="rect">
            <a:avLst/>
          </a:prstGeom>
          <a:noFill/>
        </p:spPr>
        <p:txBody>
          <a:bodyPr wrap="square">
            <a:spAutoFit/>
          </a:bodyPr>
          <a:lstStyle/>
          <a:p>
            <a:pPr algn="l"/>
            <a:r>
              <a:rPr sz="1600" b="0">
                <a:solidFill>
                  <a:srgbClr val="A1A1AA"/>
                </a:solidFill>
                <a:latin typeface="Hiragino Sans"/>
                <a:ea typeface="Hiragino Sans"/>
                <a:cs typeface="Hiragino Sans"/>
              </a:rPr>
              <a:t>管理者アカウントの追加・変更・削除</a:t>
            </a:r>
          </a:p>
        </p:txBody>
      </p:sp>
      <p:sp>
        <p:nvSpPr>
          <p:cNvPr id="22" name="Rounded Rectangle 21"/>
          <p:cNvSpPr/>
          <p:nvPr/>
        </p:nvSpPr>
        <p:spPr>
          <a:xfrm>
            <a:off x="411480" y="4069080"/>
            <a:ext cx="11338560" cy="7315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4069080"/>
            <a:ext cx="91440" cy="7315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178808"/>
            <a:ext cx="2926080" cy="502920"/>
          </a:xfrm>
          <a:prstGeom prst="rect">
            <a:avLst/>
          </a:prstGeom>
          <a:noFill/>
        </p:spPr>
        <p:txBody>
          <a:bodyPr wrap="square">
            <a:spAutoFit/>
          </a:bodyPr>
          <a:lstStyle/>
          <a:p>
            <a:pPr algn="l"/>
            <a:r>
              <a:rPr sz="1800" b="1">
                <a:solidFill>
                  <a:srgbClr val="FAFAF9"/>
                </a:solidFill>
                <a:latin typeface="Hiragino Sans"/>
                <a:ea typeface="Hiragino Sans"/>
                <a:cs typeface="Hiragino Sans"/>
              </a:rPr>
              <a:t>右上の名前</a:t>
            </a:r>
          </a:p>
        </p:txBody>
      </p:sp>
      <p:sp>
        <p:nvSpPr>
          <p:cNvPr id="25" name="TextBox 24"/>
          <p:cNvSpPr txBox="1"/>
          <p:nvPr/>
        </p:nvSpPr>
        <p:spPr>
          <a:xfrm>
            <a:off x="3840480" y="4233672"/>
            <a:ext cx="7589520" cy="457200"/>
          </a:xfrm>
          <a:prstGeom prst="rect">
            <a:avLst/>
          </a:prstGeom>
          <a:noFill/>
        </p:spPr>
        <p:txBody>
          <a:bodyPr wrap="square">
            <a:spAutoFit/>
          </a:bodyPr>
          <a:lstStyle/>
          <a:p>
            <a:pPr algn="l"/>
            <a:r>
              <a:rPr sz="1600" b="0">
                <a:solidFill>
                  <a:srgbClr val="A1A1AA"/>
                </a:solidFill>
                <a:latin typeface="Hiragino Sans"/>
                <a:ea typeface="Hiragino Sans"/>
                <a:cs typeface="Hiragino Sans"/>
              </a:rPr>
              <a:t>いまログインしている人</a:t>
            </a:r>
          </a:p>
        </p:txBody>
      </p:sp>
      <p:sp>
        <p:nvSpPr>
          <p:cNvPr id="26" name="Rounded Rectangle 25"/>
          <p:cNvSpPr/>
          <p:nvPr/>
        </p:nvSpPr>
        <p:spPr>
          <a:xfrm>
            <a:off x="411480" y="4892040"/>
            <a:ext cx="11338560" cy="73152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892040"/>
            <a:ext cx="91440" cy="73152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01768"/>
            <a:ext cx="2926080" cy="502920"/>
          </a:xfrm>
          <a:prstGeom prst="rect">
            <a:avLst/>
          </a:prstGeom>
          <a:noFill/>
        </p:spPr>
        <p:txBody>
          <a:bodyPr wrap="square">
            <a:spAutoFit/>
          </a:bodyPr>
          <a:lstStyle/>
          <a:p>
            <a:pPr algn="l"/>
            <a:r>
              <a:rPr sz="1800" b="1">
                <a:solidFill>
                  <a:srgbClr val="FAFAF9"/>
                </a:solidFill>
                <a:latin typeface="Hiragino Sans"/>
                <a:ea typeface="Hiragino Sans"/>
                <a:cs typeface="Hiragino Sans"/>
              </a:rPr>
              <a:t>ログアウト</a:t>
            </a:r>
          </a:p>
        </p:txBody>
      </p:sp>
      <p:sp>
        <p:nvSpPr>
          <p:cNvPr id="29" name="TextBox 28"/>
          <p:cNvSpPr txBox="1"/>
          <p:nvPr/>
        </p:nvSpPr>
        <p:spPr>
          <a:xfrm>
            <a:off x="3840480" y="5056632"/>
            <a:ext cx="7589520" cy="457200"/>
          </a:xfrm>
          <a:prstGeom prst="rect">
            <a:avLst/>
          </a:prstGeom>
          <a:noFill/>
        </p:spPr>
        <p:txBody>
          <a:bodyPr wrap="square">
            <a:spAutoFit/>
          </a:bodyPr>
          <a:lstStyle/>
          <a:p>
            <a:pPr algn="l"/>
            <a:r>
              <a:rPr sz="1600" b="0">
                <a:solidFill>
                  <a:srgbClr val="A1A1AA"/>
                </a:solidFill>
                <a:latin typeface="Hiragino Sans"/>
                <a:ea typeface="Hiragino Sans"/>
                <a:cs typeface="Hiragino Sans"/>
              </a:rPr>
              <a:t>使い終わったら押す（共用 PC では特に）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履歴データ  —  消えるわけではありません</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6  /  14</a:t>
            </a:r>
          </a:p>
        </p:txBody>
      </p:sp>
      <p:sp>
        <p:nvSpPr>
          <p:cNvPr id="9" name="TextBox 8"/>
          <p:cNvSpPr txBox="1"/>
          <p:nvPr/>
        </p:nvSpPr>
        <p:spPr>
          <a:xfrm>
            <a:off x="457200" y="1143000"/>
            <a:ext cx="11247120" cy="822960"/>
          </a:xfrm>
          <a:prstGeom prst="rect">
            <a:avLst/>
          </a:prstGeom>
          <a:noFill/>
        </p:spPr>
        <p:txBody>
          <a:bodyPr wrap="square">
            <a:spAutoFit/>
          </a:bodyPr>
          <a:lstStyle/>
          <a:p>
            <a:pPr algn="l"/>
            <a:r>
              <a:rPr sz="1800" b="0">
                <a:solidFill>
                  <a:srgbClr val="FAFAF9"/>
                </a:solidFill>
                <a:latin typeface="Hiragino Sans"/>
                <a:ea typeface="Hiragino Sans"/>
                <a:cs typeface="Hiragino Sans"/>
              </a:rPr>
              <a:t>お客様が見る履歴（カレンダー・リザルト）に出す／出さないを決めます。
「非表示にする」は削除ではありません。データはサーバーに残り、いつでも戻せます。</a:t>
            </a:r>
          </a:p>
        </p:txBody>
      </p:sp>
      <p:graphicFrame>
        <p:nvGraphicFramePr>
          <p:cNvPr id="10" name="Table 9"/>
          <p:cNvGraphicFramePr>
            <a:graphicFrameLocks noGrp="1"/>
          </p:cNvGraphicFramePr>
          <p:nvPr/>
        </p:nvGraphicFramePr>
        <p:xfrm>
          <a:off x="411480" y="2286000"/>
          <a:ext cx="11338560" cy="1920240"/>
        </p:xfrm>
        <a:graphic>
          <a:graphicData uri="http://schemas.openxmlformats.org/drawingml/2006/table">
            <a:tbl>
              <a:tblPr firstRow="1" bandRow="1">
                <a:tableStyleId>{5C22544A-7EE6-4342-B048-85BDC9FD1C3A}</a:tableStyleId>
              </a:tblPr>
              <a:tblGrid>
                <a:gridCol w="4535424"/>
                <a:gridCol w="6803136"/>
              </a:tblGrid>
              <a:tr h="384048">
                <a:tc>
                  <a:txBody>
                    <a:bodyPr wrap="square"/>
                    <a:lstStyle/>
                    <a:p>
                      <a:pPr algn="l"/>
                      <a:r>
                        <a:rPr sz="1300" b="1">
                          <a:solidFill>
                            <a:srgbClr val="FAFAF9"/>
                          </a:solidFill>
                          <a:latin typeface="Hiragino Sans"/>
                          <a:ea typeface="Hiragino Sans"/>
                          <a:cs typeface="Hiragino Sans"/>
                        </a:rPr>
                        <a:t>やりたいこと</a:t>
                      </a:r>
                    </a:p>
                  </a:txBody>
                  <a:tcPr>
                    <a:solidFill>
                      <a:srgbClr val="D97706"/>
                    </a:solidFill>
                  </a:tcPr>
                </a:tc>
                <a:tc>
                  <a:txBody>
                    <a:bodyPr wrap="square"/>
                    <a:lstStyle/>
                    <a:p>
                      <a:pPr algn="l"/>
                      <a:r>
                        <a:rPr sz="1300" b="1">
                          <a:solidFill>
                            <a:srgbClr val="FAFAF9"/>
                          </a:solidFill>
                          <a:latin typeface="Hiragino Sans"/>
                          <a:ea typeface="Hiragino Sans"/>
                          <a:cs typeface="Hiragino Sans"/>
                        </a:rPr>
                        <a:t>操作</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テスト走行を公開したくない</a:t>
                      </a:r>
                    </a:p>
                  </a:txBody>
                  <a:tcPr>
                    <a:solidFill>
                      <a:srgbClr val="18181B"/>
                    </a:solidFill>
                  </a:tcPr>
                </a:tc>
                <a:tc>
                  <a:txBody>
                    <a:bodyPr wrap="square"/>
                    <a:lstStyle/>
                    <a:p>
                      <a:pPr algn="l"/>
                      <a:r>
                        <a:rPr sz="1300" b="0">
                          <a:solidFill>
                            <a:srgbClr val="FAFAF9"/>
                          </a:solidFill>
                          <a:latin typeface="Hiragino Sans"/>
                          <a:ea typeface="Hiragino Sans"/>
                          <a:cs typeface="Hiragino Sans"/>
                        </a:rPr>
                        <a:t>そのセッションを「非表示にする」</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その日まるごと出したくない</a:t>
                      </a:r>
                    </a:p>
                  </a:txBody>
                  <a:tcPr>
                    <a:solidFill>
                      <a:srgbClr val="1C1C21"/>
                    </a:solidFill>
                  </a:tcPr>
                </a:tc>
                <a:tc>
                  <a:txBody>
                    <a:bodyPr wrap="square"/>
                    <a:lstStyle/>
                    <a:p>
                      <a:pPr algn="l"/>
                      <a:r>
                        <a:rPr sz="1300" b="0">
                          <a:solidFill>
                            <a:srgbClr val="FAFAF9"/>
                          </a:solidFill>
                          <a:latin typeface="Hiragino Sans"/>
                          <a:ea typeface="Hiragino Sans"/>
                          <a:cs typeface="Hiragino Sans"/>
                        </a:rPr>
                        <a:t>日付を「非表示にする」</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「AM走行」を分かりやすい名前にしたい</a:t>
                      </a:r>
                    </a:p>
                  </a:txBody>
                  <a:tcPr>
                    <a:solidFill>
                      <a:srgbClr val="18181B"/>
                    </a:solidFill>
                  </a:tcPr>
                </a:tc>
                <a:tc>
                  <a:txBody>
                    <a:bodyPr wrap="square"/>
                    <a:lstStyle/>
                    <a:p>
                      <a:pPr algn="l"/>
                      <a:r>
                        <a:rPr sz="1300" b="0">
                          <a:solidFill>
                            <a:srgbClr val="FAFAF9"/>
                          </a:solidFill>
                          <a:latin typeface="Hiragino Sans"/>
                          <a:ea typeface="Hiragino Sans"/>
                          <a:cs typeface="Hiragino Sans"/>
                        </a:rPr>
                        <a:t>「表示名」でセッション名を変更して保存</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間違えて隠した</a:t>
                      </a:r>
                    </a:p>
                  </a:txBody>
                  <a:tcPr>
                    <a:solidFill>
                      <a:srgbClr val="1C1C21"/>
                    </a:solidFill>
                  </a:tcPr>
                </a:tc>
                <a:tc>
                  <a:txBody>
                    <a:bodyPr wrap="square"/>
                    <a:lstStyle/>
                    <a:p>
                      <a:pPr algn="l"/>
                      <a:r>
                        <a:rPr sz="1300" b="0">
                          <a:solidFill>
                            <a:srgbClr val="FAFAF9"/>
                          </a:solidFill>
                          <a:latin typeface="Hiragino Sans"/>
                          <a:ea typeface="Hiragino Sans"/>
                          <a:cs typeface="Hiragino Sans"/>
                        </a:rPr>
                        <a:t>「再表示する」（データは残っています）</a:t>
                      </a:r>
                    </a:p>
                  </a:txBody>
                  <a:tcPr>
                    <a:solidFill>
                      <a:srgbClr val="1C1C21"/>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履歴データ  —  日付とセッション</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7  /  14</a:t>
            </a:r>
          </a:p>
        </p:txBody>
      </p:sp>
      <p:sp>
        <p:nvSpPr>
          <p:cNvPr id="9" name="Rounded Rectangle 8"/>
          <p:cNvSpPr/>
          <p:nvPr/>
        </p:nvSpPr>
        <p:spPr>
          <a:xfrm>
            <a:off x="411480" y="1097280"/>
            <a:ext cx="5623560" cy="49377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97280"/>
            <a:ext cx="91440" cy="49377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61872"/>
            <a:ext cx="5212080" cy="329184"/>
          </a:xfrm>
          <a:prstGeom prst="rect">
            <a:avLst/>
          </a:prstGeom>
          <a:noFill/>
        </p:spPr>
        <p:txBody>
          <a:bodyPr wrap="square">
            <a:spAutoFit/>
          </a:bodyPr>
          <a:lstStyle/>
          <a:p>
            <a:pPr algn="l"/>
            <a:r>
              <a:rPr sz="1500" b="1">
                <a:solidFill>
                  <a:srgbClr val="D97706"/>
                </a:solidFill>
                <a:latin typeface="Hiragino Sans"/>
                <a:ea typeface="Hiragino Sans"/>
                <a:cs typeface="Hiragino Sans"/>
              </a:rPr>
              <a:t>日付ごと（その日全部）</a:t>
            </a:r>
          </a:p>
        </p:txBody>
      </p:sp>
      <p:sp>
        <p:nvSpPr>
          <p:cNvPr id="12" name="TextBox 11"/>
          <p:cNvSpPr txBox="1"/>
          <p:nvPr/>
        </p:nvSpPr>
        <p:spPr>
          <a:xfrm>
            <a:off x="667512" y="1572768"/>
            <a:ext cx="5212080" cy="4297680"/>
          </a:xfrm>
          <a:prstGeom prst="rect">
            <a:avLst/>
          </a:prstGeom>
          <a:noFill/>
        </p:spPr>
        <p:txBody>
          <a:bodyPr wrap="square">
            <a:spAutoFit/>
          </a:bodyPr>
          <a:lstStyle/>
          <a:p>
            <a:r>
              <a:rPr sz="1400" b="0">
                <a:solidFill>
                  <a:srgbClr val="FAFAF9"/>
                </a:solidFill>
                <a:latin typeface="Hiragino Sans"/>
                <a:ea typeface="Hiragino Sans"/>
                <a:cs typeface="Hiragino Sans"/>
              </a:rPr>
              <a:t>1. 「履歴データ」を開く
2. 日付一覧を確認（新しい日付が上）
3. 出さない日は「非表示にする」
4. カレンダーや履歴からその日が消える
5. 戻すときは「再表示する」
日付をタップすると、その日のセッション一覧が開きます。
日付を非表示にすると、中のセッションもまとめて公開されません。</a:t>
            </a:r>
          </a:p>
        </p:txBody>
      </p:sp>
      <p:sp>
        <p:nvSpPr>
          <p:cNvPr id="13" name="Rounded Rectangle 12"/>
          <p:cNvSpPr/>
          <p:nvPr/>
        </p:nvSpPr>
        <p:spPr>
          <a:xfrm>
            <a:off x="6217920" y="1097280"/>
            <a:ext cx="5532120" cy="49377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097280"/>
            <a:ext cx="91440" cy="49377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261872"/>
            <a:ext cx="5120640" cy="329184"/>
          </a:xfrm>
          <a:prstGeom prst="rect">
            <a:avLst/>
          </a:prstGeom>
          <a:noFill/>
        </p:spPr>
        <p:txBody>
          <a:bodyPr wrap="square">
            <a:spAutoFit/>
          </a:bodyPr>
          <a:lstStyle/>
          <a:p>
            <a:pPr algn="l"/>
            <a:r>
              <a:rPr sz="1500" b="1">
                <a:solidFill>
                  <a:srgbClr val="34D399"/>
                </a:solidFill>
                <a:latin typeface="Hiragino Sans"/>
                <a:ea typeface="Hiragino Sans"/>
                <a:cs typeface="Hiragino Sans"/>
              </a:rPr>
              <a:t>セッションごと（例: AM走行だけ）</a:t>
            </a:r>
          </a:p>
        </p:txBody>
      </p:sp>
      <p:sp>
        <p:nvSpPr>
          <p:cNvPr id="16" name="TextBox 15"/>
          <p:cNvSpPr txBox="1"/>
          <p:nvPr/>
        </p:nvSpPr>
        <p:spPr>
          <a:xfrm>
            <a:off x="6473952" y="1572768"/>
            <a:ext cx="5120640" cy="4297680"/>
          </a:xfrm>
          <a:prstGeom prst="rect">
            <a:avLst/>
          </a:prstGeom>
          <a:noFill/>
        </p:spPr>
        <p:txBody>
          <a:bodyPr wrap="square">
            <a:spAutoFit/>
          </a:bodyPr>
          <a:lstStyle/>
          <a:p>
            <a:r>
              <a:rPr sz="1400" b="0">
                <a:solidFill>
                  <a:srgbClr val="FAFAF9"/>
                </a:solidFill>
                <a:latin typeface="Hiragino Sans"/>
                <a:ea typeface="Hiragino Sans"/>
                <a:cs typeface="Hiragino Sans"/>
              </a:rPr>
              <a:t>1. 対象の日付を選ぶ
2. セッション名の右の「非表示にする」
3. そのセッションだけ履歴から消える
4. 戻すときは「再表示する」
日付は出したまま、一部セッションだけ隠す、という使い方ができます。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履歴データ  —  表示名の変更</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8  /  14</a:t>
            </a:r>
          </a:p>
        </p:txBody>
      </p:sp>
      <p:sp>
        <p:nvSpPr>
          <p:cNvPr id="9" name="TextBox 8"/>
          <p:cNvSpPr txBox="1"/>
          <p:nvPr/>
        </p:nvSpPr>
        <p:spPr>
          <a:xfrm>
            <a:off x="457200" y="1097280"/>
            <a:ext cx="11247120" cy="1645920"/>
          </a:xfrm>
          <a:prstGeom prst="rect">
            <a:avLst/>
          </a:prstGeom>
          <a:noFill/>
        </p:spPr>
        <p:txBody>
          <a:bodyPr wrap="square">
            <a:spAutoFit/>
          </a:bodyPr>
          <a:lstStyle/>
          <a:p>
            <a:pPr>
              <a:spcAft>
                <a:spcPts val="1000"/>
              </a:spcAft>
            </a:pPr>
            <a:r>
              <a:rPr sz="1700" b="0">
                <a:solidFill>
                  <a:srgbClr val="FAFAF9"/>
                </a:solidFill>
                <a:latin typeface="Hiragino Sans"/>
                <a:ea typeface="Hiragino Sans"/>
                <a:cs typeface="Hiragino Sans"/>
              </a:rPr>
              <a:t>・  対象セッションの「表示名」を押す</a:t>
            </a:r>
          </a:p>
          <a:p>
            <a:pPr>
              <a:spcAft>
                <a:spcPts val="1000"/>
              </a:spcAft>
            </a:pPr>
            <a:r>
              <a:rPr sz="1700" b="0">
                <a:solidFill>
                  <a:srgbClr val="FAFAF9"/>
                </a:solidFill>
                <a:latin typeface="Hiragino Sans"/>
                <a:ea typeface="Hiragino Sans"/>
                <a:cs typeface="Hiragino Sans"/>
              </a:rPr>
              <a:t>・  カテゴリ / ラウンド / セッション / 大会 を必要に応じて書き換えて「保存」</a:t>
            </a:r>
          </a:p>
          <a:p>
            <a:pPr>
              <a:spcAft>
                <a:spcPts val="1000"/>
              </a:spcAft>
            </a:pPr>
            <a:r>
              <a:rPr sz="1700" b="0">
                <a:solidFill>
                  <a:srgbClr val="FAFAF9"/>
                </a:solidFill>
                <a:latin typeface="Hiragino Sans"/>
                <a:ea typeface="Hiragino Sans"/>
                <a:cs typeface="Hiragino Sans"/>
              </a:rPr>
              <a:t>・  空欄にして保存すると、上書きをやめて計測データそのままの名前に戻る</a:t>
            </a:r>
          </a:p>
          <a:p>
            <a:pPr>
              <a:spcAft>
                <a:spcPts val="1000"/>
              </a:spcAft>
            </a:pPr>
            <a:r>
              <a:rPr sz="1700" b="0">
                <a:solidFill>
                  <a:srgbClr val="FAFAF9"/>
                </a:solidFill>
                <a:latin typeface="Hiragino Sans"/>
                <a:ea typeface="Hiragino Sans"/>
                <a:cs typeface="Hiragino Sans"/>
              </a:rPr>
              <a:t>・  変更は履歴の一覧・詳細・CSV のファイル名にも反映されます</a:t>
            </a:r>
          </a:p>
        </p:txBody>
      </p:sp>
      <p:graphicFrame>
        <p:nvGraphicFramePr>
          <p:cNvPr id="10" name="Table 9"/>
          <p:cNvGraphicFramePr>
            <a:graphicFrameLocks noGrp="1"/>
          </p:cNvGraphicFramePr>
          <p:nvPr/>
        </p:nvGraphicFramePr>
        <p:xfrm>
          <a:off x="411480" y="3200400"/>
          <a:ext cx="11338560" cy="1920240"/>
        </p:xfrm>
        <a:graphic>
          <a:graphicData uri="http://schemas.openxmlformats.org/drawingml/2006/table">
            <a:tbl>
              <a:tblPr firstRow="1" bandRow="1">
                <a:tableStyleId>{5C22544A-7EE6-4342-B048-85BDC9FD1C3A}</a:tableStyleId>
              </a:tblPr>
              <a:tblGrid>
                <a:gridCol w="3401568"/>
                <a:gridCol w="7936992"/>
              </a:tblGrid>
              <a:tr h="384048">
                <a:tc>
                  <a:txBody>
                    <a:bodyPr wrap="square"/>
                    <a:lstStyle/>
                    <a:p>
                      <a:pPr algn="l"/>
                      <a:r>
                        <a:rPr sz="1300" b="1">
                          <a:solidFill>
                            <a:srgbClr val="FAFAF9"/>
                          </a:solidFill>
                          <a:latin typeface="Hiragino Sans"/>
                          <a:ea typeface="Hiragino Sans"/>
                          <a:cs typeface="Hiragino Sans"/>
                        </a:rPr>
                        <a:t>項目</a:t>
                      </a:r>
                    </a:p>
                  </a:txBody>
                  <a:tcPr>
                    <a:solidFill>
                      <a:srgbClr val="D97706"/>
                    </a:solidFill>
                  </a:tcPr>
                </a:tc>
                <a:tc>
                  <a:txBody>
                    <a:bodyPr wrap="square"/>
                    <a:lstStyle/>
                    <a:p>
                      <a:pPr algn="l"/>
                      <a:r>
                        <a:rPr sz="1300" b="1">
                          <a:solidFill>
                            <a:srgbClr val="FAFAF9"/>
                          </a:solidFill>
                          <a:latin typeface="Hiragino Sans"/>
                          <a:ea typeface="Hiragino Sans"/>
                          <a:cs typeface="Hiragino Sans"/>
                        </a:rPr>
                        <a:t>例</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カテゴリ</a:t>
                      </a:r>
                    </a:p>
                  </a:txBody>
                  <a:tcPr>
                    <a:solidFill>
                      <a:srgbClr val="18181B"/>
                    </a:solidFill>
                  </a:tcPr>
                </a:tc>
                <a:tc>
                  <a:txBody>
                    <a:bodyPr wrap="square"/>
                    <a:lstStyle/>
                    <a:p>
                      <a:pPr algn="l"/>
                      <a:r>
                        <a:rPr sz="1300" b="0">
                          <a:solidFill>
                            <a:srgbClr val="FAFAF9"/>
                          </a:solidFill>
                          <a:latin typeface="Hiragino Sans"/>
                          <a:ea typeface="Hiragino Sans"/>
                          <a:cs typeface="Hiragino Sans"/>
                        </a:rPr>
                        <a:t>クラス・カテゴリ名</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ラウンド</a:t>
                      </a:r>
                    </a:p>
                  </a:txBody>
                  <a:tcPr>
                    <a:solidFill>
                      <a:srgbClr val="1C1C21"/>
                    </a:solidFill>
                  </a:tcPr>
                </a:tc>
                <a:tc>
                  <a:txBody>
                    <a:bodyPr wrap="square"/>
                    <a:lstStyle/>
                    <a:p>
                      <a:pPr algn="l"/>
                      <a:r>
                        <a:rPr sz="1300" b="0">
                          <a:solidFill>
                            <a:srgbClr val="FAFAF9"/>
                          </a:solidFill>
                          <a:latin typeface="Hiragino Sans"/>
                          <a:ea typeface="Hiragino Sans"/>
                          <a:cs typeface="Hiragino Sans"/>
                        </a:rPr>
                        <a:t>第○戦 など</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セッション</a:t>
                      </a:r>
                    </a:p>
                  </a:txBody>
                  <a:tcPr>
                    <a:solidFill>
                      <a:srgbClr val="18181B"/>
                    </a:solidFill>
                  </a:tcPr>
                </a:tc>
                <a:tc>
                  <a:txBody>
                    <a:bodyPr wrap="square"/>
                    <a:lstStyle/>
                    <a:p>
                      <a:pPr algn="l"/>
                      <a:r>
                        <a:rPr sz="1300" b="0">
                          <a:solidFill>
                            <a:srgbClr val="FAFAF9"/>
                          </a:solidFill>
                          <a:latin typeface="Hiragino Sans"/>
                          <a:ea typeface="Hiragino Sans"/>
                          <a:cs typeface="Hiragino Sans"/>
                        </a:rPr>
                        <a:t>AM走行、公式予選、決勝 など</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大会</a:t>
                      </a:r>
                    </a:p>
                  </a:txBody>
                  <a:tcPr>
                    <a:solidFill>
                      <a:srgbClr val="1C1C21"/>
                    </a:solidFill>
                  </a:tcPr>
                </a:tc>
                <a:tc>
                  <a:txBody>
                    <a:bodyPr wrap="square"/>
                    <a:lstStyle/>
                    <a:p>
                      <a:pPr algn="l"/>
                      <a:r>
                        <a:rPr sz="1300" b="0">
                          <a:solidFill>
                            <a:srgbClr val="FAFAF9"/>
                          </a:solidFill>
                          <a:latin typeface="Hiragino Sans"/>
                          <a:ea typeface="Hiragino Sans"/>
                          <a:cs typeface="Hiragino Sans"/>
                        </a:rPr>
                        <a:t>イベント名</a:t>
                      </a:r>
                    </a:p>
                  </a:txBody>
                  <a:tcPr>
                    <a:solidFill>
                      <a:srgbClr val="1C1C21"/>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Live表示  —  保存するまでお客様側は変わりません</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9  /  14</a:t>
            </a:r>
          </a:p>
        </p:txBody>
      </p:sp>
      <p:sp>
        <p:nvSpPr>
          <p:cNvPr id="9" name="Rounded Rectangle 8"/>
          <p:cNvSpPr/>
          <p:nvPr/>
        </p:nvSpPr>
        <p:spPr>
          <a:xfrm>
            <a:off x="411480" y="1143000"/>
            <a:ext cx="11338560" cy="155448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143000"/>
            <a:ext cx="91440" cy="155448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10789920" cy="1188720"/>
          </a:xfrm>
          <a:prstGeom prst="rect">
            <a:avLst/>
          </a:prstGeom>
          <a:noFill/>
        </p:spPr>
        <p:txBody>
          <a:bodyPr wrap="square">
            <a:spAutoFit/>
          </a:bodyPr>
          <a:lstStyle/>
          <a:p>
            <a:pPr algn="l"/>
            <a:r>
              <a:rPr sz="1800" b="0">
                <a:solidFill>
                  <a:srgbClr val="FAFAF9"/>
                </a:solidFill>
                <a:latin typeface="Hiragino Sans"/>
                <a:ea typeface="Hiragino Sans"/>
                <a:cs typeface="Hiragino Sans"/>
              </a:rPr>
              <a:t>並びや名前をいじっただけでは、Live は変わりません。
右上の「保存して Live に反映」を押した時点で、開いている Live ページにもすぐ届きます（再読み込み不要）。</a:t>
            </a:r>
          </a:p>
        </p:txBody>
      </p:sp>
      <p:sp>
        <p:nvSpPr>
          <p:cNvPr id="12" name="TextBox 11"/>
          <p:cNvSpPr txBox="1"/>
          <p:nvPr/>
        </p:nvSpPr>
        <p:spPr>
          <a:xfrm>
            <a:off x="457200" y="2971800"/>
            <a:ext cx="11247120" cy="2926080"/>
          </a:xfrm>
          <a:prstGeom prst="rect">
            <a:avLst/>
          </a:prstGeom>
          <a:noFill/>
        </p:spPr>
        <p:txBody>
          <a:bodyPr wrap="square">
            <a:spAutoFit/>
          </a:bodyPr>
          <a:lstStyle/>
          <a:p>
            <a:pPr>
              <a:spcAft>
                <a:spcPts val="1000"/>
              </a:spcAft>
            </a:pPr>
            <a:r>
              <a:rPr sz="1700" b="0">
                <a:solidFill>
                  <a:srgbClr val="FAFAF9"/>
                </a:solidFill>
                <a:latin typeface="Hiragino Sans"/>
                <a:ea typeface="Hiragino Sans"/>
                <a:cs typeface="Hiragino Sans"/>
              </a:rPr>
              <a:t>・  未保存のときは「未保存の変更あり」と出ます</a:t>
            </a:r>
          </a:p>
          <a:p>
            <a:pPr>
              <a:spcAft>
                <a:spcPts val="1000"/>
              </a:spcAft>
            </a:pPr>
            <a:r>
              <a:rPr sz="1700" b="0">
                <a:solidFill>
                  <a:srgbClr val="FAFAF9"/>
                </a:solidFill>
                <a:latin typeface="Hiragino Sans"/>
                <a:ea typeface="Hiragino Sans"/>
                <a:cs typeface="Hiragino Sans"/>
              </a:rPr>
              <a:t>・  保存せず別メニューへ移動すると、変更は破棄されます</a:t>
            </a:r>
          </a:p>
          <a:p>
            <a:pPr>
              <a:spcAft>
                <a:spcPts val="1000"/>
              </a:spcAft>
            </a:pPr>
            <a:r>
              <a:rPr sz="1700" b="0">
                <a:solidFill>
                  <a:srgbClr val="FAFAF9"/>
                </a:solidFill>
                <a:latin typeface="Hiragino Sans"/>
                <a:ea typeface="Hiragino Sans"/>
                <a:cs typeface="Hiragino Sans"/>
              </a:rPr>
              <a:t>・  元に戻す: 「既定に戻す」→「保存して Live に反映」</a:t>
            </a:r>
          </a:p>
          <a:p>
            <a:pPr>
              <a:spcAft>
                <a:spcPts val="1000"/>
              </a:spcAft>
            </a:pPr>
            <a:r>
              <a:rPr sz="1700" b="0">
                <a:solidFill>
                  <a:srgbClr val="FAFAF9"/>
                </a:solidFill>
                <a:latin typeface="Hiragino Sans"/>
                <a:ea typeface="Hiragino Sans"/>
                <a:cs typeface="Hiragino Sans"/>
              </a:rPr>
              <a:t>・  確認: 保存したあと、別タブで一般向けまたは関係者向けの Live を見る</a:t>
            </a:r>
          </a:p>
          <a:p>
            <a:pPr>
              <a:spcAft>
                <a:spcPts val="1000"/>
              </a:spcAft>
            </a:pPr>
            <a:r>
              <a:rPr sz="1700" b="0">
                <a:solidFill>
                  <a:srgbClr val="FAFAF9"/>
                </a:solidFill>
                <a:latin typeface="Hiragino Sans"/>
                <a:ea typeface="Hiragino Sans"/>
                <a:cs typeface="Hiragino Sans"/>
              </a:rPr>
              <a:t>・  届かないときは、その Live ページを再読み込みしてください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Live表示  —  並び・名称・表示／非表示</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10  /  14</a:t>
            </a:r>
          </a:p>
        </p:txBody>
      </p:sp>
      <p:sp>
        <p:nvSpPr>
          <p:cNvPr id="9" name="Rounded Rectangle 8"/>
          <p:cNvSpPr/>
          <p:nvPr/>
        </p:nvSpPr>
        <p:spPr>
          <a:xfrm>
            <a:off x="411480" y="1097280"/>
            <a:ext cx="11338560" cy="1078992"/>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97280"/>
            <a:ext cx="91440" cy="107899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225296"/>
            <a:ext cx="10972800" cy="320040"/>
          </a:xfrm>
          <a:prstGeom prst="rect">
            <a:avLst/>
          </a:prstGeom>
          <a:noFill/>
        </p:spPr>
        <p:txBody>
          <a:bodyPr wrap="square">
            <a:spAutoFit/>
          </a:bodyPr>
          <a:lstStyle/>
          <a:p>
            <a:pPr algn="l"/>
            <a:r>
              <a:rPr sz="1600" b="1">
                <a:solidFill>
                  <a:srgbClr val="D97706"/>
                </a:solidFill>
                <a:latin typeface="Hiragino Sans"/>
                <a:ea typeface="Hiragino Sans"/>
                <a:cs typeface="Hiragino Sans"/>
              </a:rPr>
              <a:t>並び替え</a:t>
            </a:r>
          </a:p>
        </p:txBody>
      </p:sp>
      <p:sp>
        <p:nvSpPr>
          <p:cNvPr id="12" name="TextBox 11"/>
          <p:cNvSpPr txBox="1"/>
          <p:nvPr/>
        </p:nvSpPr>
        <p:spPr>
          <a:xfrm>
            <a:off x="777240" y="1554480"/>
            <a:ext cx="10972800" cy="502920"/>
          </a:xfrm>
          <a:prstGeom prst="rect">
            <a:avLst/>
          </a:prstGeom>
          <a:noFill/>
        </p:spPr>
        <p:txBody>
          <a:bodyPr wrap="square">
            <a:spAutoFit/>
          </a:bodyPr>
          <a:lstStyle/>
          <a:p>
            <a:pPr algn="l"/>
            <a:r>
              <a:rPr sz="1500" b="0">
                <a:solidFill>
                  <a:srgbClr val="FAFAF9"/>
                </a:solidFill>
                <a:latin typeface="Hiragino Sans"/>
                <a:ea typeface="Hiragino Sans"/>
                <a:cs typeface="Hiragino Sans"/>
              </a:rPr>
              <a:t>各行の左の ▲ / ▼ で順番を変えます。上のプレビューで Live に出る並びを確認できます。</a:t>
            </a:r>
          </a:p>
        </p:txBody>
      </p:sp>
      <p:sp>
        <p:nvSpPr>
          <p:cNvPr id="13" name="Rounded Rectangle 12"/>
          <p:cNvSpPr/>
          <p:nvPr/>
        </p:nvSpPr>
        <p:spPr>
          <a:xfrm>
            <a:off x="411480" y="2286000"/>
            <a:ext cx="11338560" cy="1078992"/>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286000"/>
            <a:ext cx="91440" cy="107899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14016"/>
            <a:ext cx="10972800" cy="320040"/>
          </a:xfrm>
          <a:prstGeom prst="rect">
            <a:avLst/>
          </a:prstGeom>
          <a:noFill/>
        </p:spPr>
        <p:txBody>
          <a:bodyPr wrap="square">
            <a:spAutoFit/>
          </a:bodyPr>
          <a:lstStyle/>
          <a:p>
            <a:pPr algn="l"/>
            <a:r>
              <a:rPr sz="1600" b="1">
                <a:solidFill>
                  <a:srgbClr val="D97706"/>
                </a:solidFill>
                <a:latin typeface="Hiragino Sans"/>
                <a:ea typeface="Hiragino Sans"/>
                <a:cs typeface="Hiragino Sans"/>
              </a:rPr>
              <a:t>表示／非表示</a:t>
            </a:r>
          </a:p>
        </p:txBody>
      </p:sp>
      <p:sp>
        <p:nvSpPr>
          <p:cNvPr id="16" name="TextBox 15"/>
          <p:cNvSpPr txBox="1"/>
          <p:nvPr/>
        </p:nvSpPr>
        <p:spPr>
          <a:xfrm>
            <a:off x="777240" y="2743200"/>
            <a:ext cx="10972800" cy="502920"/>
          </a:xfrm>
          <a:prstGeom prst="rect">
            <a:avLst/>
          </a:prstGeom>
          <a:noFill/>
        </p:spPr>
        <p:txBody>
          <a:bodyPr wrap="square">
            <a:spAutoFit/>
          </a:bodyPr>
          <a:lstStyle/>
          <a:p>
            <a:pPr algn="l"/>
            <a:r>
              <a:rPr sz="1500" b="0">
                <a:solidFill>
                  <a:srgbClr val="FAFAF9"/>
                </a:solidFill>
                <a:latin typeface="Hiragino Sans"/>
                <a:ea typeface="Hiragino Sans"/>
                <a:cs typeface="Hiragino Sans"/>
              </a:rPr>
              <a:t>「表示」チェックを外すとその列は Live に出ません。例: セクターやピット回数を出さない。</a:t>
            </a:r>
          </a:p>
        </p:txBody>
      </p:sp>
      <p:sp>
        <p:nvSpPr>
          <p:cNvPr id="17" name="Rounded Rectangle 16"/>
          <p:cNvSpPr/>
          <p:nvPr/>
        </p:nvSpPr>
        <p:spPr>
          <a:xfrm>
            <a:off x="411480" y="3474720"/>
            <a:ext cx="11338560" cy="1078992"/>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474720"/>
            <a:ext cx="91440" cy="107899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02736"/>
            <a:ext cx="10972800" cy="320040"/>
          </a:xfrm>
          <a:prstGeom prst="rect">
            <a:avLst/>
          </a:prstGeom>
          <a:noFill/>
        </p:spPr>
        <p:txBody>
          <a:bodyPr wrap="square">
            <a:spAutoFit/>
          </a:bodyPr>
          <a:lstStyle/>
          <a:p>
            <a:pPr algn="l"/>
            <a:r>
              <a:rPr sz="1600" b="1">
                <a:solidFill>
                  <a:srgbClr val="D97706"/>
                </a:solidFill>
                <a:latin typeface="Hiragino Sans"/>
                <a:ea typeface="Hiragino Sans"/>
                <a:cs typeface="Hiragino Sans"/>
              </a:rPr>
              <a:t>名称</a:t>
            </a:r>
          </a:p>
        </p:txBody>
      </p:sp>
      <p:sp>
        <p:nvSpPr>
          <p:cNvPr id="20" name="TextBox 19"/>
          <p:cNvSpPr txBox="1"/>
          <p:nvPr/>
        </p:nvSpPr>
        <p:spPr>
          <a:xfrm>
            <a:off x="777240" y="3931920"/>
            <a:ext cx="10972800" cy="502920"/>
          </a:xfrm>
          <a:prstGeom prst="rect">
            <a:avLst/>
          </a:prstGeom>
          <a:noFill/>
        </p:spPr>
        <p:txBody>
          <a:bodyPr wrap="square">
            <a:spAutoFit/>
          </a:bodyPr>
          <a:lstStyle/>
          <a:p>
            <a:pPr algn="l"/>
            <a:r>
              <a:rPr sz="1500" b="0">
                <a:solidFill>
                  <a:srgbClr val="FAFAF9"/>
                </a:solidFill>
                <a:latin typeface="Hiragino Sans"/>
                <a:ea typeface="Hiragino Sans"/>
                <a:cs typeface="Hiragino Sans"/>
              </a:rPr>
              <a:t>右側の入力欄が表ヘッダーの名前です。例: P → 順位、No. → 車番。24 文字まで。空でも可。</a:t>
            </a:r>
          </a:p>
        </p:txBody>
      </p:sp>
      <p:sp>
        <p:nvSpPr>
          <p:cNvPr id="21" name="Rounded Rectangle 20"/>
          <p:cNvSpPr/>
          <p:nvPr/>
        </p:nvSpPr>
        <p:spPr>
          <a:xfrm>
            <a:off x="411480" y="4663440"/>
            <a:ext cx="11338560" cy="1078992"/>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663440"/>
            <a:ext cx="91440" cy="107899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791456"/>
            <a:ext cx="10972800" cy="320040"/>
          </a:xfrm>
          <a:prstGeom prst="rect">
            <a:avLst/>
          </a:prstGeom>
          <a:noFill/>
        </p:spPr>
        <p:txBody>
          <a:bodyPr wrap="square">
            <a:spAutoFit/>
          </a:bodyPr>
          <a:lstStyle/>
          <a:p>
            <a:pPr algn="l"/>
            <a:r>
              <a:rPr sz="1600" b="1">
                <a:solidFill>
                  <a:srgbClr val="D97706"/>
                </a:solidFill>
                <a:latin typeface="Hiragino Sans"/>
                <a:ea typeface="Hiragino Sans"/>
                <a:cs typeface="Hiragino Sans"/>
              </a:rPr>
              <a:t>注意</a:t>
            </a:r>
          </a:p>
        </p:txBody>
      </p:sp>
      <p:sp>
        <p:nvSpPr>
          <p:cNvPr id="24" name="TextBox 23"/>
          <p:cNvSpPr txBox="1"/>
          <p:nvPr/>
        </p:nvSpPr>
        <p:spPr>
          <a:xfrm>
            <a:off x="777240" y="5120640"/>
            <a:ext cx="10972800" cy="502920"/>
          </a:xfrm>
          <a:prstGeom prst="rect">
            <a:avLst/>
          </a:prstGeom>
          <a:noFill/>
        </p:spPr>
        <p:txBody>
          <a:bodyPr wrap="square">
            <a:spAutoFit/>
          </a:bodyPr>
          <a:lstStyle/>
          <a:p>
            <a:pPr algn="l"/>
            <a:r>
              <a:rPr sz="1500" b="0">
                <a:solidFill>
                  <a:srgbClr val="FAFAF9"/>
                </a:solidFill>
                <a:latin typeface="Hiragino Sans"/>
                <a:ea typeface="Hiragino Sans"/>
                <a:cs typeface="Hiragino Sans"/>
              </a:rPr>
              <a:t>決勝以外でも使う列は、少なくとも 1 つは表示にしてください。「決勝のみ」の列（▲▼）は決勝のときだけ出ます。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Live表示  —  プルダウンと列の意味</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11  /  14</a:t>
            </a:r>
          </a:p>
        </p:txBody>
      </p:sp>
      <p:sp>
        <p:nvSpPr>
          <p:cNvPr id="9" name="TextBox 8"/>
          <p:cNvSpPr txBox="1"/>
          <p:nvPr/>
        </p:nvSpPr>
        <p:spPr>
          <a:xfrm>
            <a:off x="457200" y="1051560"/>
            <a:ext cx="11247120" cy="640080"/>
          </a:xfrm>
          <a:prstGeom prst="rect">
            <a:avLst/>
          </a:prstGeom>
          <a:noFill/>
        </p:spPr>
        <p:txBody>
          <a:bodyPr wrap="square">
            <a:spAutoFit/>
          </a:bodyPr>
          <a:lstStyle/>
          <a:p>
            <a:pPr algn="l"/>
            <a:r>
              <a:rPr sz="1500" b="0">
                <a:solidFill>
                  <a:srgbClr val="A1A1AA"/>
                </a:solidFill>
                <a:latin typeface="Hiragino Sans"/>
                <a:ea typeface="Hiragino Sans"/>
                <a:cs typeface="Hiragino Sans"/>
              </a:rPr>
              <a:t>一部の列は、お客様がヘッダーをタップして表示を切り替えられます。「プルダウン」から編集します。出す項目は 1 つ以上残してください。</a:t>
            </a:r>
          </a:p>
        </p:txBody>
      </p:sp>
      <p:graphicFrame>
        <p:nvGraphicFramePr>
          <p:cNvPr id="10" name="Table 9"/>
          <p:cNvGraphicFramePr>
            <a:graphicFrameLocks noGrp="1"/>
          </p:cNvGraphicFramePr>
          <p:nvPr/>
        </p:nvGraphicFramePr>
        <p:xfrm>
          <a:off x="411480" y="1737360"/>
          <a:ext cx="5577839" cy="1536192"/>
        </p:xfrm>
        <a:graphic>
          <a:graphicData uri="http://schemas.openxmlformats.org/drawingml/2006/table">
            <a:tbl>
              <a:tblPr firstRow="1" bandRow="1">
                <a:tableStyleId>{5C22544A-7EE6-4342-B048-85BDC9FD1C3A}</a:tableStyleId>
              </a:tblPr>
              <a:tblGrid>
                <a:gridCol w="1593668"/>
                <a:gridCol w="3984171"/>
              </a:tblGrid>
              <a:tr h="384048">
                <a:tc>
                  <a:txBody>
                    <a:bodyPr wrap="square"/>
                    <a:lstStyle/>
                    <a:p>
                      <a:pPr algn="l"/>
                      <a:r>
                        <a:rPr sz="1300" b="1">
                          <a:solidFill>
                            <a:srgbClr val="FAFAF9"/>
                          </a:solidFill>
                          <a:latin typeface="Hiragino Sans"/>
                          <a:ea typeface="Hiragino Sans"/>
                          <a:cs typeface="Hiragino Sans"/>
                        </a:rPr>
                        <a:t>操作</a:t>
                      </a:r>
                    </a:p>
                  </a:txBody>
                  <a:tcPr>
                    <a:solidFill>
                      <a:srgbClr val="D97706"/>
                    </a:solidFill>
                  </a:tcPr>
                </a:tc>
                <a:tc>
                  <a:txBody>
                    <a:bodyPr wrap="square"/>
                    <a:lstStyle/>
                    <a:p>
                      <a:pPr algn="l"/>
                      <a:r>
                        <a:rPr sz="1300" b="1">
                          <a:solidFill>
                            <a:srgbClr val="FAFAF9"/>
                          </a:solidFill>
                          <a:latin typeface="Hiragino Sans"/>
                          <a:ea typeface="Hiragino Sans"/>
                          <a:cs typeface="Hiragino Sans"/>
                        </a:rPr>
                        <a:t>意味</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出す</a:t>
                      </a:r>
                    </a:p>
                  </a:txBody>
                  <a:tcPr>
                    <a:solidFill>
                      <a:srgbClr val="18181B"/>
                    </a:solidFill>
                  </a:tcPr>
                </a:tc>
                <a:tc>
                  <a:txBody>
                    <a:bodyPr wrap="square"/>
                    <a:lstStyle/>
                    <a:p>
                      <a:pPr algn="l"/>
                      <a:r>
                        <a:rPr sz="1300" b="0">
                          <a:solidFill>
                            <a:srgbClr val="FAFAF9"/>
                          </a:solidFill>
                          <a:latin typeface="Hiragino Sans"/>
                          <a:ea typeface="Hiragino Sans"/>
                          <a:cs typeface="Hiragino Sans"/>
                        </a:rPr>
                        <a:t>お客様のメニューにその項目を出す</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名称</a:t>
                      </a:r>
                    </a:p>
                  </a:txBody>
                  <a:tcPr>
                    <a:solidFill>
                      <a:srgbClr val="1C1C21"/>
                    </a:solidFill>
                  </a:tcPr>
                </a:tc>
                <a:tc>
                  <a:txBody>
                    <a:bodyPr wrap="square"/>
                    <a:lstStyle/>
                    <a:p>
                      <a:pPr algn="l"/>
                      <a:r>
                        <a:rPr sz="1300" b="0">
                          <a:solidFill>
                            <a:srgbClr val="FAFAF9"/>
                          </a:solidFill>
                          <a:latin typeface="Hiragino Sans"/>
                          <a:ea typeface="Hiragino Sans"/>
                          <a:cs typeface="Hiragino Sans"/>
                        </a:rPr>
                        <a:t>メニューに出る文字（Behind → 先頭差 など）</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初期</a:t>
                      </a:r>
                    </a:p>
                  </a:txBody>
                  <a:tcPr>
                    <a:solidFill>
                      <a:srgbClr val="18181B"/>
                    </a:solidFill>
                  </a:tcPr>
                </a:tc>
                <a:tc>
                  <a:txBody>
                    <a:bodyPr wrap="square"/>
                    <a:lstStyle/>
                    <a:p>
                      <a:pPr algn="l"/>
                      <a:r>
                        <a:rPr sz="1300" b="0">
                          <a:solidFill>
                            <a:srgbClr val="FAFAF9"/>
                          </a:solidFill>
                          <a:latin typeface="Hiragino Sans"/>
                          <a:ea typeface="Hiragino Sans"/>
                          <a:cs typeface="Hiragino Sans"/>
                        </a:rPr>
                        <a:t>ページを開いたときに最初に出す項目</a:t>
                      </a:r>
                    </a:p>
                  </a:txBody>
                  <a:tcPr>
                    <a:solidFill>
                      <a:srgbClr val="18181B"/>
                    </a:solidFill>
                  </a:tcPr>
                </a:tc>
              </a:tr>
            </a:tbl>
          </a:graphicData>
        </a:graphic>
      </p:graphicFrame>
      <p:graphicFrame>
        <p:nvGraphicFramePr>
          <p:cNvPr id="11" name="Table 10"/>
          <p:cNvGraphicFramePr>
            <a:graphicFrameLocks noGrp="1"/>
          </p:cNvGraphicFramePr>
          <p:nvPr/>
        </p:nvGraphicFramePr>
        <p:xfrm>
          <a:off x="6172200" y="1737360"/>
          <a:ext cx="5577840" cy="1920240"/>
        </p:xfrm>
        <a:graphic>
          <a:graphicData uri="http://schemas.openxmlformats.org/drawingml/2006/table">
            <a:tbl>
              <a:tblPr firstRow="1" bandRow="1">
                <a:tableStyleId>{5C22544A-7EE6-4342-B048-85BDC9FD1C3A}</a:tableStyleId>
              </a:tblPr>
              <a:tblGrid>
                <a:gridCol w="2091690"/>
                <a:gridCol w="3486150"/>
              </a:tblGrid>
              <a:tr h="384048">
                <a:tc>
                  <a:txBody>
                    <a:bodyPr wrap="square"/>
                    <a:lstStyle/>
                    <a:p>
                      <a:pPr algn="l"/>
                      <a:r>
                        <a:rPr sz="1300" b="1">
                          <a:solidFill>
                            <a:srgbClr val="FAFAF9"/>
                          </a:solidFill>
                          <a:latin typeface="Hiragino Sans"/>
                          <a:ea typeface="Hiragino Sans"/>
                          <a:cs typeface="Hiragino Sans"/>
                        </a:rPr>
                        <a:t>キー</a:t>
                      </a:r>
                    </a:p>
                  </a:txBody>
                  <a:tcPr>
                    <a:solidFill>
                      <a:srgbClr val="D97706"/>
                    </a:solidFill>
                  </a:tcPr>
                </a:tc>
                <a:tc>
                  <a:txBody>
                    <a:bodyPr wrap="square"/>
                    <a:lstStyle/>
                    <a:p>
                      <a:pPr algn="l"/>
                      <a:r>
                        <a:rPr sz="1300" b="1">
                          <a:solidFill>
                            <a:srgbClr val="FAFAF9"/>
                          </a:solidFill>
                          <a:latin typeface="Hiragino Sans"/>
                          <a:ea typeface="Hiragino Sans"/>
                          <a:cs typeface="Hiragino Sans"/>
                        </a:rPr>
                        <a:t>中身</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pos / pic / nr</a:t>
                      </a:r>
                    </a:p>
                  </a:txBody>
                  <a:tcPr>
                    <a:solidFill>
                      <a:srgbClr val="18181B"/>
                    </a:solidFill>
                  </a:tcPr>
                </a:tc>
                <a:tc>
                  <a:txBody>
                    <a:bodyPr wrap="square"/>
                    <a:lstStyle/>
                    <a:p>
                      <a:pPr algn="l"/>
                      <a:r>
                        <a:rPr sz="1300" b="0">
                          <a:solidFill>
                            <a:srgbClr val="FAFAF9"/>
                          </a:solidFill>
                          <a:latin typeface="Hiragino Sans"/>
                          <a:ea typeface="Hiragino Sans"/>
                          <a:cs typeface="Hiragino Sans"/>
                        </a:rPr>
                        <a:t>総合順位 / クラス内順位 / 車番</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driver / car / class</a:t>
                      </a:r>
                    </a:p>
                  </a:txBody>
                  <a:tcPr>
                    <a:solidFill>
                      <a:srgbClr val="1C1C21"/>
                    </a:solidFill>
                  </a:tcPr>
                </a:tc>
                <a:tc>
                  <a:txBody>
                    <a:bodyPr wrap="square"/>
                    <a:lstStyle/>
                    <a:p>
                      <a:pPr algn="l"/>
                      <a:r>
                        <a:rPr sz="1300" b="0">
                          <a:solidFill>
                            <a:srgbClr val="FAFAF9"/>
                          </a:solidFill>
                          <a:latin typeface="Hiragino Sans"/>
                          <a:ea typeface="Hiragino Sans"/>
                          <a:cs typeface="Hiragino Sans"/>
                        </a:rPr>
                        <a:t>名前 / 車両・チーム / クラス</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laps / gap / best</a:t>
                      </a:r>
                    </a:p>
                  </a:txBody>
                  <a:tcPr>
                    <a:solidFill>
                      <a:srgbClr val="18181B"/>
                    </a:solidFill>
                  </a:tcPr>
                </a:tc>
                <a:tc>
                  <a:txBody>
                    <a:bodyPr wrap="square"/>
                    <a:lstStyle/>
                    <a:p>
                      <a:pPr algn="l"/>
                      <a:r>
                        <a:rPr sz="1300" b="0">
                          <a:solidFill>
                            <a:srgbClr val="FAFAF9"/>
                          </a:solidFill>
                          <a:latin typeface="Hiragino Sans"/>
                          <a:ea typeface="Hiragino Sans"/>
                          <a:cs typeface="Hiragino Sans"/>
                        </a:rPr>
                        <a:t>周回・時刻 / 差 / ベスト</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s1 s2 s3 / pit / chg</a:t>
                      </a:r>
                    </a:p>
                  </a:txBody>
                  <a:tcPr>
                    <a:solidFill>
                      <a:srgbClr val="1C1C21"/>
                    </a:solidFill>
                  </a:tcPr>
                </a:tc>
                <a:tc>
                  <a:txBody>
                    <a:bodyPr wrap="square"/>
                    <a:lstStyle/>
                    <a:p>
                      <a:pPr algn="l"/>
                      <a:r>
                        <a:rPr sz="1300" b="0">
                          <a:solidFill>
                            <a:srgbClr val="FAFAF9"/>
                          </a:solidFill>
                          <a:latin typeface="Hiragino Sans"/>
                          <a:ea typeface="Hiragino Sans"/>
                          <a:cs typeface="Hiragino Sans"/>
                        </a:rPr>
                        <a:t>セクター / ピット / 順位変動（決勝）</a:t>
                      </a:r>
                    </a:p>
                  </a:txBody>
                  <a:tcPr>
                    <a:solidFill>
                      <a:srgbClr val="1C1C21"/>
                    </a:solidFill>
                  </a:tcPr>
                </a:tc>
              </a:tr>
            </a:tbl>
          </a:graphicData>
        </a:graphic>
      </p:graphicFrame>
      <p:sp>
        <p:nvSpPr>
          <p:cNvPr id="12" name="TextBox 11"/>
          <p:cNvSpPr txBox="1"/>
          <p:nvPr/>
        </p:nvSpPr>
        <p:spPr>
          <a:xfrm>
            <a:off x="457200" y="5349240"/>
            <a:ext cx="11247120" cy="731520"/>
          </a:xfrm>
          <a:prstGeom prst="rect">
            <a:avLst/>
          </a:prstGeom>
          <a:noFill/>
        </p:spPr>
        <p:txBody>
          <a:bodyPr wrap="square">
            <a:spAutoFit/>
          </a:bodyPr>
          <a:lstStyle/>
          <a:p>
            <a:pPr algn="l"/>
            <a:r>
              <a:rPr sz="1500" b="0">
                <a:solidFill>
                  <a:srgbClr val="A1A1AA"/>
                </a:solidFill>
                <a:latin typeface="Hiragino Sans"/>
                <a:ea typeface="Hiragino Sans"/>
                <a:cs typeface="Hiragino Sans"/>
              </a:rPr>
              <a:t>プルダウンを 1 項目だけにすると、お客様側は切替メニューではなく、その名前の固定見出しになります。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ユーザー（管理者アカウント）</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12  /  14</a:t>
            </a:r>
          </a:p>
        </p:txBody>
      </p:sp>
      <p:sp>
        <p:nvSpPr>
          <p:cNvPr id="9" name="Rounded Rectangle 8"/>
          <p:cNvSpPr/>
          <p:nvPr/>
        </p:nvSpPr>
        <p:spPr>
          <a:xfrm>
            <a:off x="411480" y="1097280"/>
            <a:ext cx="3657600" cy="49377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97280"/>
            <a:ext cx="91440" cy="49377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261872"/>
            <a:ext cx="3246120" cy="329184"/>
          </a:xfrm>
          <a:prstGeom prst="rect">
            <a:avLst/>
          </a:prstGeom>
          <a:noFill/>
        </p:spPr>
        <p:txBody>
          <a:bodyPr wrap="square">
            <a:spAutoFit/>
          </a:bodyPr>
          <a:lstStyle/>
          <a:p>
            <a:pPr algn="l"/>
            <a:r>
              <a:rPr sz="1500" b="1">
                <a:solidFill>
                  <a:srgbClr val="D97706"/>
                </a:solidFill>
                <a:latin typeface="Hiragino Sans"/>
                <a:ea typeface="Hiragino Sans"/>
                <a:cs typeface="Hiragino Sans"/>
              </a:rPr>
              <a:t>追加</a:t>
            </a:r>
          </a:p>
        </p:txBody>
      </p:sp>
      <p:sp>
        <p:nvSpPr>
          <p:cNvPr id="12" name="TextBox 11"/>
          <p:cNvSpPr txBox="1"/>
          <p:nvPr/>
        </p:nvSpPr>
        <p:spPr>
          <a:xfrm>
            <a:off x="667512" y="1572768"/>
            <a:ext cx="3246120" cy="4297680"/>
          </a:xfrm>
          <a:prstGeom prst="rect">
            <a:avLst/>
          </a:prstGeom>
          <a:noFill/>
        </p:spPr>
        <p:txBody>
          <a:bodyPr wrap="square">
            <a:spAutoFit/>
          </a:bodyPr>
          <a:lstStyle/>
          <a:p>
            <a:r>
              <a:rPr sz="1400" b="0">
                <a:solidFill>
                  <a:srgbClr val="FAFAF9"/>
                </a:solidFill>
                <a:latin typeface="Hiragino Sans"/>
                <a:ea typeface="Hiragino Sans"/>
                <a:cs typeface="Hiragino Sans"/>
              </a:rPr>
              <a:t>「ユーザー」を開き、下の「管理者を追加」に入れて「追加」。
ユーザー名: 英数字と . _ - のみ。3〜32 文字。日本語は不可。
パスワード: 10 文字以上。</a:t>
            </a:r>
          </a:p>
        </p:txBody>
      </p:sp>
      <p:sp>
        <p:nvSpPr>
          <p:cNvPr id="13" name="Rounded Rectangle 12"/>
          <p:cNvSpPr/>
          <p:nvPr/>
        </p:nvSpPr>
        <p:spPr>
          <a:xfrm>
            <a:off x="4251960" y="1097280"/>
            <a:ext cx="3657600" cy="49377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097280"/>
            <a:ext cx="91440" cy="49377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261872"/>
            <a:ext cx="3246120" cy="329184"/>
          </a:xfrm>
          <a:prstGeom prst="rect">
            <a:avLst/>
          </a:prstGeom>
          <a:noFill/>
        </p:spPr>
        <p:txBody>
          <a:bodyPr wrap="square">
            <a:spAutoFit/>
          </a:bodyPr>
          <a:lstStyle/>
          <a:p>
            <a:pPr algn="l"/>
            <a:r>
              <a:rPr sz="1500" b="1">
                <a:solidFill>
                  <a:srgbClr val="34D399"/>
                </a:solidFill>
                <a:latin typeface="Hiragino Sans"/>
                <a:ea typeface="Hiragino Sans"/>
                <a:cs typeface="Hiragino Sans"/>
              </a:rPr>
              <a:t>パスワード変更</a:t>
            </a:r>
          </a:p>
        </p:txBody>
      </p:sp>
      <p:sp>
        <p:nvSpPr>
          <p:cNvPr id="16" name="TextBox 15"/>
          <p:cNvSpPr txBox="1"/>
          <p:nvPr/>
        </p:nvSpPr>
        <p:spPr>
          <a:xfrm>
            <a:off x="4507992" y="1572768"/>
            <a:ext cx="3246120" cy="4297680"/>
          </a:xfrm>
          <a:prstGeom prst="rect">
            <a:avLst/>
          </a:prstGeom>
          <a:noFill/>
        </p:spPr>
        <p:txBody>
          <a:bodyPr wrap="square">
            <a:spAutoFit/>
          </a:bodyPr>
          <a:lstStyle/>
          <a:p>
            <a:r>
              <a:rPr sz="1400" b="0">
                <a:solidFill>
                  <a:srgbClr val="FAFAF9"/>
                </a:solidFill>
                <a:latin typeface="Hiragino Sans"/>
                <a:ea typeface="Hiragino Sans"/>
                <a:cs typeface="Hiragino Sans"/>
              </a:rPr>
              <a:t>対象の「パスワード変更」→ 新しいパスワード →「変更」。
その人のログインは切れます。入り直しが必要です。
自分のパスワードを変えた場合は、この画面からもログアウトします。</a:t>
            </a:r>
          </a:p>
        </p:txBody>
      </p:sp>
      <p:sp>
        <p:nvSpPr>
          <p:cNvPr id="17" name="Rounded Rectangle 16"/>
          <p:cNvSpPr/>
          <p:nvPr/>
        </p:nvSpPr>
        <p:spPr>
          <a:xfrm>
            <a:off x="8092440" y="1097280"/>
            <a:ext cx="3657600" cy="493776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097280"/>
            <a:ext cx="91440" cy="493776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1261872"/>
            <a:ext cx="3246120" cy="329184"/>
          </a:xfrm>
          <a:prstGeom prst="rect">
            <a:avLst/>
          </a:prstGeom>
          <a:noFill/>
        </p:spPr>
        <p:txBody>
          <a:bodyPr wrap="square">
            <a:spAutoFit/>
          </a:bodyPr>
          <a:lstStyle/>
          <a:p>
            <a:pPr algn="l"/>
            <a:r>
              <a:rPr sz="1500" b="1">
                <a:solidFill>
                  <a:srgbClr val="F87171"/>
                </a:solidFill>
                <a:latin typeface="Hiragino Sans"/>
                <a:ea typeface="Hiragino Sans"/>
                <a:cs typeface="Hiragino Sans"/>
              </a:rPr>
              <a:t>削除</a:t>
            </a:r>
          </a:p>
        </p:txBody>
      </p:sp>
      <p:sp>
        <p:nvSpPr>
          <p:cNvPr id="20" name="TextBox 19"/>
          <p:cNvSpPr txBox="1"/>
          <p:nvPr/>
        </p:nvSpPr>
        <p:spPr>
          <a:xfrm>
            <a:off x="8348472" y="1572768"/>
            <a:ext cx="3246120" cy="4297680"/>
          </a:xfrm>
          <a:prstGeom prst="rect">
            <a:avLst/>
          </a:prstGeom>
          <a:noFill/>
        </p:spPr>
        <p:txBody>
          <a:bodyPr wrap="square">
            <a:spAutoFit/>
          </a:bodyPr>
          <a:lstStyle/>
          <a:p>
            <a:r>
              <a:rPr sz="1400" b="0">
                <a:solidFill>
                  <a:srgbClr val="FAFAF9"/>
                </a:solidFill>
                <a:latin typeface="Hiragino Sans"/>
                <a:ea typeface="Hiragino Sans"/>
                <a:cs typeface="Hiragino Sans"/>
              </a:rPr>
              <a:t>対象の「削除」→ 確認ダイアログで実行。
自分自身は削除できません。
管理者が 1 人だけのときは削除できません。先に別の人を追加してください。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困ったとき</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13  /  14</a:t>
            </a:r>
          </a:p>
        </p:txBody>
      </p:sp>
      <p:graphicFrame>
        <p:nvGraphicFramePr>
          <p:cNvPr id="9" name="Table 8"/>
          <p:cNvGraphicFramePr>
            <a:graphicFrameLocks noGrp="1"/>
          </p:cNvGraphicFramePr>
          <p:nvPr/>
        </p:nvGraphicFramePr>
        <p:xfrm>
          <a:off x="320040" y="1051560"/>
          <a:ext cx="11521440" cy="3072384"/>
        </p:xfrm>
        <a:graphic>
          <a:graphicData uri="http://schemas.openxmlformats.org/drawingml/2006/table">
            <a:tbl>
              <a:tblPr firstRow="1" bandRow="1">
                <a:tableStyleId>{5C22544A-7EE6-4342-B048-85BDC9FD1C3A}</a:tableStyleId>
              </a:tblPr>
              <a:tblGrid>
                <a:gridCol w="3840480"/>
                <a:gridCol w="7680960"/>
              </a:tblGrid>
              <a:tr h="384048">
                <a:tc>
                  <a:txBody>
                    <a:bodyPr wrap="square"/>
                    <a:lstStyle/>
                    <a:p>
                      <a:pPr algn="l"/>
                      <a:r>
                        <a:rPr sz="1300" b="1">
                          <a:solidFill>
                            <a:srgbClr val="FAFAF9"/>
                          </a:solidFill>
                          <a:latin typeface="Hiragino Sans"/>
                          <a:ea typeface="Hiragino Sans"/>
                          <a:cs typeface="Hiragino Sans"/>
                        </a:rPr>
                        <a:t>症状</a:t>
                      </a:r>
                    </a:p>
                  </a:txBody>
                  <a:tcPr>
                    <a:solidFill>
                      <a:srgbClr val="D97706"/>
                    </a:solidFill>
                  </a:tcPr>
                </a:tc>
                <a:tc>
                  <a:txBody>
                    <a:bodyPr wrap="square"/>
                    <a:lstStyle/>
                    <a:p>
                      <a:pPr algn="l"/>
                      <a:r>
                        <a:rPr sz="1300" b="1">
                          <a:solidFill>
                            <a:srgbClr val="FAFAF9"/>
                          </a:solidFill>
                          <a:latin typeface="Hiragino Sans"/>
                          <a:ea typeface="Hiragino Sans"/>
                          <a:cs typeface="Hiragino Sans"/>
                        </a:rPr>
                        <a:t>確認すること</a:t>
                      </a:r>
                    </a:p>
                  </a:txBody>
                  <a:tcPr>
                    <a:solidFill>
                      <a:srgbClr val="D97706"/>
                    </a:solidFill>
                  </a:tcPr>
                </a:tc>
              </a:tr>
              <a:tr h="384048">
                <a:tc>
                  <a:txBody>
                    <a:bodyPr wrap="square"/>
                    <a:lstStyle/>
                    <a:p>
                      <a:pPr algn="l"/>
                      <a:r>
                        <a:rPr sz="1300" b="0">
                          <a:solidFill>
                            <a:srgbClr val="FAFAF9"/>
                          </a:solidFill>
                          <a:latin typeface="Hiragino Sans"/>
                          <a:ea typeface="Hiragino Sans"/>
                          <a:cs typeface="Hiragino Sans"/>
                        </a:rPr>
                        <a:t>ログインできない</a:t>
                      </a:r>
                    </a:p>
                  </a:txBody>
                  <a:tcPr>
                    <a:solidFill>
                      <a:srgbClr val="18181B"/>
                    </a:solidFill>
                  </a:tcPr>
                </a:tc>
                <a:tc>
                  <a:txBody>
                    <a:bodyPr wrap="square"/>
                    <a:lstStyle/>
                    <a:p>
                      <a:pPr algn="l"/>
                      <a:r>
                        <a:rPr sz="1300" b="0">
                          <a:solidFill>
                            <a:srgbClr val="FAFAF9"/>
                          </a:solidFill>
                          <a:latin typeface="Hiragino Sans"/>
                          <a:ea typeface="Hiragino Sans"/>
                          <a:cs typeface="Hiragino Sans"/>
                        </a:rPr>
                        <a:t>ユーザー名／パスワードの打ち間違い。大文字小文字も一致させる</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管理 URL が Live になる</a:t>
                      </a:r>
                    </a:p>
                  </a:txBody>
                  <a:tcPr>
                    <a:solidFill>
                      <a:srgbClr val="1C1C21"/>
                    </a:solidFill>
                  </a:tcPr>
                </a:tc>
                <a:tc>
                  <a:txBody>
                    <a:bodyPr wrap="square"/>
                    <a:lstStyle/>
                    <a:p>
                      <a:pPr algn="l"/>
                      <a:r>
                        <a:rPr sz="1300" b="0">
                          <a:solidFill>
                            <a:srgbClr val="FAFAF9"/>
                          </a:solidFill>
                          <a:latin typeface="Hiragino Sans"/>
                          <a:ea typeface="Hiragino Sans"/>
                          <a:cs typeface="Hiragino Sans"/>
                        </a:rPr>
                        <a:t>アドレスが oic-timing-admin か。一般向けでは管理画面は出ません</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履歴から消したのにデータが心配</a:t>
                      </a:r>
                    </a:p>
                  </a:txBody>
                  <a:tcPr>
                    <a:solidFill>
                      <a:srgbClr val="18181B"/>
                    </a:solidFill>
                  </a:tcPr>
                </a:tc>
                <a:tc>
                  <a:txBody>
                    <a:bodyPr wrap="square"/>
                    <a:lstStyle/>
                    <a:p>
                      <a:pPr algn="l"/>
                      <a:r>
                        <a:rPr sz="1300" b="0">
                          <a:solidFill>
                            <a:srgbClr val="FAFAF9"/>
                          </a:solidFill>
                          <a:latin typeface="Hiragino Sans"/>
                          <a:ea typeface="Hiragino Sans"/>
                          <a:cs typeface="Hiragino Sans"/>
                        </a:rPr>
                        <a:t>非表示は公開から外しているだけ。「再表示する」で戻る</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Live の列が変わらない</a:t>
                      </a:r>
                    </a:p>
                  </a:txBody>
                  <a:tcPr>
                    <a:solidFill>
                      <a:srgbClr val="1C1C21"/>
                    </a:solidFill>
                  </a:tcPr>
                </a:tc>
                <a:tc>
                  <a:txBody>
                    <a:bodyPr wrap="square"/>
                    <a:lstStyle/>
                    <a:p>
                      <a:pPr algn="l"/>
                      <a:r>
                        <a:rPr sz="1300" b="0">
                          <a:solidFill>
                            <a:srgbClr val="FAFAF9"/>
                          </a:solidFill>
                          <a:latin typeface="Hiragino Sans"/>
                          <a:ea typeface="Hiragino Sans"/>
                          <a:cs typeface="Hiragino Sans"/>
                        </a:rPr>
                        <a:t>「保存して Live に反映」を押したか。未保存のまま移動していないか</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プルダウンが保存できない</a:t>
                      </a:r>
                    </a:p>
                  </a:txBody>
                  <a:tcPr>
                    <a:solidFill>
                      <a:srgbClr val="18181B"/>
                    </a:solidFill>
                  </a:tcPr>
                </a:tc>
                <a:tc>
                  <a:txBody>
                    <a:bodyPr wrap="square"/>
                    <a:lstStyle/>
                    <a:p>
                      <a:pPr algn="l"/>
                      <a:r>
                        <a:rPr sz="1300" b="0">
                          <a:solidFill>
                            <a:srgbClr val="FAFAF9"/>
                          </a:solidFill>
                          <a:latin typeface="Hiragino Sans"/>
                          <a:ea typeface="Hiragino Sans"/>
                          <a:cs typeface="Hiragino Sans"/>
                        </a:rPr>
                        <a:t>その列を表示しているなら、「出す」を 1 つ以上オンにする</a:t>
                      </a:r>
                    </a:p>
                  </a:txBody>
                  <a:tcPr>
                    <a:solidFill>
                      <a:srgbClr val="18181B"/>
                    </a:solidFill>
                  </a:tcPr>
                </a:tc>
              </a:tr>
              <a:tr h="384048">
                <a:tc>
                  <a:txBody>
                    <a:bodyPr wrap="square"/>
                    <a:lstStyle/>
                    <a:p>
                      <a:pPr algn="l"/>
                      <a:r>
                        <a:rPr sz="1300" b="0">
                          <a:solidFill>
                            <a:srgbClr val="FAFAF9"/>
                          </a:solidFill>
                          <a:latin typeface="Hiragino Sans"/>
                          <a:ea typeface="Hiragino Sans"/>
                          <a:cs typeface="Hiragino Sans"/>
                        </a:rPr>
                        <a:t>決勝の ▲▼ が出ない</a:t>
                      </a:r>
                    </a:p>
                  </a:txBody>
                  <a:tcPr>
                    <a:solidFill>
                      <a:srgbClr val="1C1C21"/>
                    </a:solidFill>
                  </a:tcPr>
                </a:tc>
                <a:tc>
                  <a:txBody>
                    <a:bodyPr wrap="square"/>
                    <a:lstStyle/>
                    <a:p>
                      <a:pPr algn="l"/>
                      <a:r>
                        <a:rPr sz="1300" b="0">
                          <a:solidFill>
                            <a:srgbClr val="FAFAF9"/>
                          </a:solidFill>
                          <a:latin typeface="Hiragino Sans"/>
                          <a:ea typeface="Hiragino Sans"/>
                          <a:cs typeface="Hiragino Sans"/>
                        </a:rPr>
                        <a:t>列 chg が非表示でないか。予選・練習では仕様上出ません</a:t>
                      </a:r>
                    </a:p>
                  </a:txBody>
                  <a:tcPr>
                    <a:solidFill>
                      <a:srgbClr val="1C1C21"/>
                    </a:solidFill>
                  </a:tcPr>
                </a:tc>
              </a:tr>
              <a:tr h="384048">
                <a:tc>
                  <a:txBody>
                    <a:bodyPr wrap="square"/>
                    <a:lstStyle/>
                    <a:p>
                      <a:pPr algn="l"/>
                      <a:r>
                        <a:rPr sz="1300" b="0">
                          <a:solidFill>
                            <a:srgbClr val="FAFAF9"/>
                          </a:solidFill>
                          <a:latin typeface="Hiragino Sans"/>
                          <a:ea typeface="Hiragino Sans"/>
                          <a:cs typeface="Hiragino Sans"/>
                        </a:rPr>
                        <a:t>ログイン画面に戻った</a:t>
                      </a:r>
                    </a:p>
                  </a:txBody>
                  <a:tcPr>
                    <a:solidFill>
                      <a:srgbClr val="18181B"/>
                    </a:solidFill>
                  </a:tcPr>
                </a:tc>
                <a:tc>
                  <a:txBody>
                    <a:bodyPr wrap="square"/>
                    <a:lstStyle/>
                    <a:p>
                      <a:pPr algn="l"/>
                      <a:r>
                        <a:rPr sz="1300" b="0">
                          <a:solidFill>
                            <a:srgbClr val="FAFAF9"/>
                          </a:solidFill>
                          <a:latin typeface="Hiragino Sans"/>
                          <a:ea typeface="Hiragino Sans"/>
                          <a:cs typeface="Hiragino Sans"/>
                        </a:rPr>
                        <a:t>しばらく操作が無かったか、パスワード変更後。入り直す</a:t>
                      </a:r>
                    </a:p>
                  </a:txBody>
                  <a:tcPr>
                    <a:solidFill>
                      <a:srgbClr val="18181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841248"/>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0515600" cy="457200"/>
          </a:xfrm>
          <a:prstGeom prst="rect">
            <a:avLst/>
          </a:prstGeom>
          <a:noFill/>
        </p:spPr>
        <p:txBody>
          <a:bodyPr wrap="square">
            <a:spAutoFit/>
          </a:bodyPr>
          <a:lstStyle/>
          <a:p>
            <a:pPr algn="l"/>
            <a:r>
              <a:rPr sz="2400" b="1">
                <a:solidFill>
                  <a:srgbClr val="FAFAF9"/>
                </a:solidFill>
                <a:latin typeface="Hiragino Sans"/>
                <a:ea typeface="Hiragino Sans"/>
                <a:cs typeface="Hiragino Sans"/>
              </a:rPr>
              <a:t>運用上のお願い</a:t>
            </a:r>
          </a:p>
        </p:txBody>
      </p:sp>
      <p:sp>
        <p:nvSpPr>
          <p:cNvPr id="6" name="Rectangle 5"/>
          <p:cNvSpPr/>
          <p:nvPr/>
        </p:nvSpPr>
        <p:spPr>
          <a:xfrm>
            <a:off x="0" y="6510528"/>
            <a:ext cx="12191695" cy="347472"/>
          </a:xfrm>
          <a:prstGeom prst="rect">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9144000" cy="292608"/>
          </a:xfrm>
          <a:prstGeom prst="rect">
            <a:avLst/>
          </a:prstGeom>
          <a:noFill/>
        </p:spPr>
        <p:txBody>
          <a:bodyPr wrap="square">
            <a:spAutoFit/>
          </a:bodyPr>
          <a:lstStyle/>
          <a:p>
            <a:pPr algn="l"/>
            <a:r>
              <a:rPr sz="1000" b="0">
                <a:solidFill>
                  <a:srgbClr val="71717A"/>
                </a:solidFill>
                <a:latin typeface="Hiragino Sans"/>
                <a:ea typeface="Hiragino Sans"/>
                <a:cs typeface="Hiragino Sans"/>
              </a:rPr>
              <a:t>MOLA Timing  ·  岡山国際サーキット  ·  管理者専用  ·  この URL は一般公開しない</a:t>
            </a:r>
          </a:p>
        </p:txBody>
      </p:sp>
      <p:sp>
        <p:nvSpPr>
          <p:cNvPr id="8" name="TextBox 7"/>
          <p:cNvSpPr txBox="1"/>
          <p:nvPr/>
        </p:nvSpPr>
        <p:spPr>
          <a:xfrm>
            <a:off x="10424160" y="6528816"/>
            <a:ext cx="1463040" cy="292608"/>
          </a:xfrm>
          <a:prstGeom prst="rect">
            <a:avLst/>
          </a:prstGeom>
          <a:noFill/>
        </p:spPr>
        <p:txBody>
          <a:bodyPr wrap="square">
            <a:spAutoFit/>
          </a:bodyPr>
          <a:lstStyle/>
          <a:p>
            <a:pPr algn="r"/>
            <a:r>
              <a:rPr sz="1000" b="0">
                <a:solidFill>
                  <a:srgbClr val="71717A"/>
                </a:solidFill>
                <a:latin typeface="Hiragino Sans"/>
                <a:ea typeface="Hiragino Sans"/>
                <a:cs typeface="Hiragino Sans"/>
              </a:rPr>
              <a:t>14  /  14</a:t>
            </a:r>
          </a:p>
        </p:txBody>
      </p:sp>
      <p:sp>
        <p:nvSpPr>
          <p:cNvPr id="9" name="Rounded Rectangle 8"/>
          <p:cNvSpPr/>
          <p:nvPr/>
        </p:nvSpPr>
        <p:spPr>
          <a:xfrm>
            <a:off x="411480" y="114300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14300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130759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1</a:t>
            </a:r>
          </a:p>
        </p:txBody>
      </p:sp>
      <p:sp>
        <p:nvSpPr>
          <p:cNvPr id="12" name="TextBox 11"/>
          <p:cNvSpPr txBox="1"/>
          <p:nvPr/>
        </p:nvSpPr>
        <p:spPr>
          <a:xfrm>
            <a:off x="1280160" y="130759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管理 URL とパスワードは、必要な担当者だけが持つ</a:t>
            </a:r>
          </a:p>
        </p:txBody>
      </p:sp>
      <p:sp>
        <p:nvSpPr>
          <p:cNvPr id="13" name="Rounded Rectangle 12"/>
          <p:cNvSpPr/>
          <p:nvPr/>
        </p:nvSpPr>
        <p:spPr>
          <a:xfrm>
            <a:off x="411480" y="192024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92024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08483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2</a:t>
            </a:r>
          </a:p>
        </p:txBody>
      </p:sp>
      <p:sp>
        <p:nvSpPr>
          <p:cNvPr id="16" name="TextBox 15"/>
          <p:cNvSpPr txBox="1"/>
          <p:nvPr/>
        </p:nvSpPr>
        <p:spPr>
          <a:xfrm>
            <a:off x="1280160" y="208483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使い終わったらログアウトする（共用 PC の場合は特に）</a:t>
            </a:r>
          </a:p>
        </p:txBody>
      </p:sp>
      <p:sp>
        <p:nvSpPr>
          <p:cNvPr id="17" name="Rounded Rectangle 16"/>
          <p:cNvSpPr/>
          <p:nvPr/>
        </p:nvSpPr>
        <p:spPr>
          <a:xfrm>
            <a:off x="411480" y="269748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269748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286207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3</a:t>
            </a:r>
          </a:p>
        </p:txBody>
      </p:sp>
      <p:sp>
        <p:nvSpPr>
          <p:cNvPr id="20" name="TextBox 19"/>
          <p:cNvSpPr txBox="1"/>
          <p:nvPr/>
        </p:nvSpPr>
        <p:spPr>
          <a:xfrm>
            <a:off x="1280160" y="286207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履歴の非表示は「消す」ではなく「お客様に見せない」操作として使う</a:t>
            </a:r>
          </a:p>
        </p:txBody>
      </p:sp>
      <p:sp>
        <p:nvSpPr>
          <p:cNvPr id="21" name="Rounded Rectangle 20"/>
          <p:cNvSpPr/>
          <p:nvPr/>
        </p:nvSpPr>
        <p:spPr>
          <a:xfrm>
            <a:off x="411480" y="347472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47472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363931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4</a:t>
            </a:r>
          </a:p>
        </p:txBody>
      </p:sp>
      <p:sp>
        <p:nvSpPr>
          <p:cNvPr id="24" name="TextBox 23"/>
          <p:cNvSpPr txBox="1"/>
          <p:nvPr/>
        </p:nvSpPr>
        <p:spPr>
          <a:xfrm>
            <a:off x="1280160" y="363931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Live の見た目を大きく変えるときは、本番セッションの直前ではなく余裕のある時間に保存して確認する</a:t>
            </a:r>
          </a:p>
        </p:txBody>
      </p:sp>
      <p:sp>
        <p:nvSpPr>
          <p:cNvPr id="25" name="Rounded Rectangle 24"/>
          <p:cNvSpPr/>
          <p:nvPr/>
        </p:nvSpPr>
        <p:spPr>
          <a:xfrm>
            <a:off x="411480" y="425196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425196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441655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5</a:t>
            </a:r>
          </a:p>
        </p:txBody>
      </p:sp>
      <p:sp>
        <p:nvSpPr>
          <p:cNvPr id="28" name="TextBox 27"/>
          <p:cNvSpPr txBox="1"/>
          <p:nvPr/>
        </p:nvSpPr>
        <p:spPr>
          <a:xfrm>
            <a:off x="1280160" y="441655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分からない操作は、試す前にこの資料の該当ページを確認する</a:t>
            </a:r>
          </a:p>
        </p:txBody>
      </p:sp>
      <p:sp>
        <p:nvSpPr>
          <p:cNvPr id="29" name="Rounded Rectangle 28"/>
          <p:cNvSpPr/>
          <p:nvPr/>
        </p:nvSpPr>
        <p:spPr>
          <a:xfrm>
            <a:off x="411480" y="5029200"/>
            <a:ext cx="11338560" cy="685800"/>
          </a:xfrm>
          <a:prstGeom prst="roundRect">
            <a:avLst>
              <a:gd name="adj" fmla="val 8000"/>
            </a:avLst>
          </a:prstGeom>
          <a:solidFill>
            <a:srgbClr val="1C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5029200"/>
            <a:ext cx="658368" cy="685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5193792"/>
            <a:ext cx="530352" cy="411480"/>
          </a:xfrm>
          <a:prstGeom prst="rect">
            <a:avLst/>
          </a:prstGeom>
          <a:noFill/>
        </p:spPr>
        <p:txBody>
          <a:bodyPr wrap="square">
            <a:spAutoFit/>
          </a:bodyPr>
          <a:lstStyle/>
          <a:p>
            <a:pPr algn="ctr"/>
            <a:r>
              <a:rPr sz="1800" b="1">
                <a:solidFill>
                  <a:srgbClr val="FAFAF9"/>
                </a:solidFill>
                <a:latin typeface="Hiragino Sans"/>
                <a:ea typeface="Hiragino Sans"/>
                <a:cs typeface="Hiragino Sans"/>
              </a:rPr>
              <a:t>6</a:t>
            </a:r>
          </a:p>
        </p:txBody>
      </p:sp>
      <p:sp>
        <p:nvSpPr>
          <p:cNvPr id="32" name="TextBox 31"/>
          <p:cNvSpPr txBox="1"/>
          <p:nvPr/>
        </p:nvSpPr>
        <p:spPr>
          <a:xfrm>
            <a:off x="1280160" y="5193792"/>
            <a:ext cx="10241280" cy="411480"/>
          </a:xfrm>
          <a:prstGeom prst="rect">
            <a:avLst/>
          </a:prstGeom>
          <a:noFill/>
        </p:spPr>
        <p:txBody>
          <a:bodyPr wrap="square">
            <a:spAutoFit/>
          </a:bodyPr>
          <a:lstStyle/>
          <a:p>
            <a:pPr algn="l"/>
            <a:r>
              <a:rPr sz="1600" b="0">
                <a:solidFill>
                  <a:srgbClr val="FAFAF9"/>
                </a:solidFill>
                <a:latin typeface="Hiragino Sans"/>
                <a:ea typeface="Hiragino Sans"/>
                <a:cs typeface="Hiragino Sans"/>
              </a:rPr>
              <a:t>問い合わせは、この資料をお渡しした担当者まで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